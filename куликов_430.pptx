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1" r:id="rId4"/>
    <p:sldId id="273" r:id="rId5"/>
    <p:sldId id="272" r:id="rId6"/>
    <p:sldId id="274" r:id="rId7"/>
    <p:sldId id="275" r:id="rId8"/>
    <p:sldId id="276" r:id="rId9"/>
    <p:sldId id="286" r:id="rId10"/>
    <p:sldId id="287" r:id="rId11"/>
    <p:sldId id="288" r:id="rId12"/>
    <p:sldId id="279" r:id="rId13"/>
    <p:sldId id="281" r:id="rId14"/>
    <p:sldId id="282" r:id="rId15"/>
    <p:sldId id="283" r:id="rId16"/>
    <p:sldId id="284" r:id="rId17"/>
    <p:sldId id="289" r:id="rId18"/>
    <p:sldId id="29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F6D6D"/>
    <a:srgbClr val="AD69FF"/>
    <a:srgbClr val="5378FF"/>
    <a:srgbClr val="C28FFF"/>
    <a:srgbClr val="D5B3FF"/>
    <a:srgbClr val="FFE5FF"/>
    <a:srgbClr val="FFB19F"/>
    <a:srgbClr val="809CFF"/>
    <a:srgbClr val="FF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71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02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29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35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75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11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31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72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01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5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64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0AB19-C960-4B41-91FD-809C344493C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18B9A-C19E-45E9-95A0-8CDC117E6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31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17/06/relationships/model3d" Target="../media/model3d3.glb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microsoft.com/office/2007/relationships/hdphoto" Target="../media/hdphoto4.wdp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4.png"/><Relationship Id="rId10" Type="http://schemas.microsoft.com/office/2007/relationships/hdphoto" Target="../media/hdphoto7.wdp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18.png"/><Relationship Id="rId10" Type="http://schemas.microsoft.com/office/2007/relationships/hdphoto" Target="../media/hdphoto10.wdp"/><Relationship Id="rId4" Type="http://schemas.microsoft.com/office/2007/relationships/hdphoto" Target="../media/hdphoto7.wdp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18.png"/><Relationship Id="rId10" Type="http://schemas.microsoft.com/office/2007/relationships/hdphoto" Target="../media/hdphoto1.wdp"/><Relationship Id="rId4" Type="http://schemas.microsoft.com/office/2007/relationships/hdphoto" Target="../media/hdphoto7.wdp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microsoft.com/office/2007/relationships/hdphoto" Target="../media/hdphoto12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microsoft.com/office/2007/relationships/hdphoto" Target="../media/hdphoto11.wdp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F7669C79-CDA1-8F67-5DE3-591CAC76BBB9}"/>
              </a:ext>
            </a:extLst>
          </p:cNvPr>
          <p:cNvSpPr/>
          <p:nvPr/>
        </p:nvSpPr>
        <p:spPr>
          <a:xfrm>
            <a:off x="927413" y="-66809"/>
            <a:ext cx="4181383" cy="4181383"/>
          </a:xfrm>
          <a:prstGeom prst="ellipse">
            <a:avLst/>
          </a:prstGeom>
          <a:solidFill>
            <a:srgbClr val="AD69FF">
              <a:alpha val="23000"/>
            </a:srgb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B0C2278-40A0-49B7-C470-4BDA82F5E946}"/>
              </a:ext>
            </a:extLst>
          </p:cNvPr>
          <p:cNvSpPr/>
          <p:nvPr/>
        </p:nvSpPr>
        <p:spPr>
          <a:xfrm>
            <a:off x="8217155" y="1338308"/>
            <a:ext cx="4181383" cy="4181383"/>
          </a:xfrm>
          <a:prstGeom prst="ellipse">
            <a:avLst/>
          </a:prstGeom>
          <a:solidFill>
            <a:srgbClr val="AD69FF">
              <a:alpha val="23000"/>
            </a:srgb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53983" y="2023883"/>
            <a:ext cx="6684034" cy="922038"/>
          </a:xfrm>
        </p:spPr>
        <p:txBody>
          <a:bodyPr/>
          <a:lstStyle/>
          <a:p>
            <a:r>
              <a:rPr lang="ru-RU" dirty="0">
                <a:solidFill>
                  <a:srgbClr val="404040"/>
                </a:solidFill>
                <a:latin typeface="Arial Black" panose="020B0A04020102020204" pitchFamily="34" charset="0"/>
              </a:rPr>
              <a:t>БИЗНЕС–ПЛАН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23813" y="2851031"/>
            <a:ext cx="4944374" cy="483079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ПОДАРОЧНЫЕ БОКСЫ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A234BCA-D44C-30F2-3281-981ED05D8119}"/>
              </a:ext>
            </a:extLst>
          </p:cNvPr>
          <p:cNvGrpSpPr/>
          <p:nvPr/>
        </p:nvGrpSpPr>
        <p:grpSpPr>
          <a:xfrm rot="5400000">
            <a:off x="-1554417" y="3586417"/>
            <a:ext cx="4826000" cy="1717165"/>
            <a:chOff x="999705" y="3004539"/>
            <a:chExt cx="4826000" cy="1717165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3F64E95-D37F-75AF-8217-37C8CAD347B6}"/>
                </a:ext>
              </a:extLst>
            </p:cNvPr>
            <p:cNvSpPr/>
            <p:nvPr/>
          </p:nvSpPr>
          <p:spPr>
            <a:xfrm>
              <a:off x="999705" y="3912080"/>
              <a:ext cx="4826000" cy="809624"/>
            </a:xfrm>
            <a:prstGeom prst="rect">
              <a:avLst/>
            </a:prstGeom>
            <a:gradFill flip="none" rotWithShape="1">
              <a:gsLst>
                <a:gs pos="100000">
                  <a:srgbClr val="5378FF"/>
                </a:gs>
                <a:gs pos="0">
                  <a:srgbClr val="FFE5FF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6377D47-B686-712C-B02D-125998D53E56}"/>
                </a:ext>
              </a:extLst>
            </p:cNvPr>
            <p:cNvSpPr/>
            <p:nvPr/>
          </p:nvSpPr>
          <p:spPr>
            <a:xfrm>
              <a:off x="4981155" y="3004539"/>
              <a:ext cx="844550" cy="1717163"/>
            </a:xfrm>
            <a:prstGeom prst="rect">
              <a:avLst/>
            </a:prstGeom>
            <a:gradFill flip="none" rotWithShape="1">
              <a:gsLst>
                <a:gs pos="100000">
                  <a:srgbClr val="5378FF"/>
                </a:gs>
                <a:gs pos="0">
                  <a:srgbClr val="FFE5FF"/>
                </a:gs>
              </a:gsLst>
              <a:lin ang="6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EDA1FD1-0D5A-420D-F214-A64553E66840}"/>
              </a:ext>
            </a:extLst>
          </p:cNvPr>
          <p:cNvGrpSpPr/>
          <p:nvPr/>
        </p:nvGrpSpPr>
        <p:grpSpPr>
          <a:xfrm rot="10800000" flipH="1">
            <a:off x="7366000" y="0"/>
            <a:ext cx="4826000" cy="1717165"/>
            <a:chOff x="999705" y="3004539"/>
            <a:chExt cx="4826000" cy="1717165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B6D32B0-5F23-BF65-853E-2F526D90BBD5}"/>
                </a:ext>
              </a:extLst>
            </p:cNvPr>
            <p:cNvSpPr/>
            <p:nvPr/>
          </p:nvSpPr>
          <p:spPr>
            <a:xfrm>
              <a:off x="999705" y="3912080"/>
              <a:ext cx="4826000" cy="809624"/>
            </a:xfrm>
            <a:prstGeom prst="rect">
              <a:avLst/>
            </a:prstGeom>
            <a:gradFill flip="none" rotWithShape="1">
              <a:gsLst>
                <a:gs pos="100000">
                  <a:srgbClr val="5378FF"/>
                </a:gs>
                <a:gs pos="0">
                  <a:srgbClr val="FFE5FF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8EAB9EEC-F46B-E25D-4693-6833BCD758F2}"/>
                </a:ext>
              </a:extLst>
            </p:cNvPr>
            <p:cNvSpPr/>
            <p:nvPr/>
          </p:nvSpPr>
          <p:spPr>
            <a:xfrm>
              <a:off x="4981155" y="3004539"/>
              <a:ext cx="844550" cy="1717163"/>
            </a:xfrm>
            <a:prstGeom prst="rect">
              <a:avLst/>
            </a:prstGeom>
            <a:gradFill flip="none" rotWithShape="1">
              <a:gsLst>
                <a:gs pos="100000">
                  <a:srgbClr val="5378FF"/>
                </a:gs>
                <a:gs pos="0">
                  <a:srgbClr val="FFE5FF"/>
                </a:gs>
              </a:gsLst>
              <a:lin ang="6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2" name="Овал 11">
            <a:extLst>
              <a:ext uri="{FF2B5EF4-FFF2-40B4-BE49-F238E27FC236}">
                <a16:creationId xmlns:a16="http://schemas.microsoft.com/office/drawing/2014/main" id="{69ACE23C-205E-928B-9731-3A3842CB4D5F}"/>
              </a:ext>
            </a:extLst>
          </p:cNvPr>
          <p:cNvSpPr/>
          <p:nvPr/>
        </p:nvSpPr>
        <p:spPr>
          <a:xfrm>
            <a:off x="3974846" y="2540202"/>
            <a:ext cx="4181383" cy="4181383"/>
          </a:xfrm>
          <a:prstGeom prst="ellipse">
            <a:avLst/>
          </a:prstGeom>
          <a:solidFill>
            <a:srgbClr val="5378FF">
              <a:alpha val="23000"/>
            </a:srgb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8050F7-45B5-8FFC-46A7-CAADAADEB3A1}"/>
              </a:ext>
            </a:extLst>
          </p:cNvPr>
          <p:cNvSpPr txBox="1"/>
          <p:nvPr/>
        </p:nvSpPr>
        <p:spPr>
          <a:xfrm>
            <a:off x="9438016" y="6205266"/>
            <a:ext cx="2753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ru-RU" sz="1600" dirty="0">
                <a:solidFill>
                  <a:srgbClr val="404040"/>
                </a:solidFill>
              </a:rPr>
              <a:t>Выполнил</a:t>
            </a:r>
            <a:r>
              <a:rPr lang="en-US" sz="1600" dirty="0">
                <a:solidFill>
                  <a:srgbClr val="404040"/>
                </a:solidFill>
              </a:rPr>
              <a:t>:</a:t>
            </a:r>
            <a:r>
              <a:rPr lang="ru-RU" sz="1600" dirty="0">
                <a:solidFill>
                  <a:srgbClr val="404040"/>
                </a:solidFill>
              </a:rPr>
              <a:t> </a:t>
            </a:r>
            <a:r>
              <a:rPr lang="ru-RU" sz="1600" b="1" dirty="0">
                <a:solidFill>
                  <a:srgbClr val="AD69FF"/>
                </a:solidFill>
              </a:rPr>
              <a:t>Куликов Кирилл</a:t>
            </a:r>
          </a:p>
          <a:p>
            <a:pPr algn="r" fontAlgn="base"/>
            <a:r>
              <a:rPr lang="ru-RU" sz="1600" dirty="0">
                <a:solidFill>
                  <a:srgbClr val="404040"/>
                </a:solidFill>
              </a:rPr>
              <a:t>Группа</a:t>
            </a:r>
            <a:r>
              <a:rPr lang="en-US" sz="1600" dirty="0">
                <a:solidFill>
                  <a:srgbClr val="404040"/>
                </a:solidFill>
              </a:rPr>
              <a:t>:</a:t>
            </a:r>
            <a:r>
              <a:rPr lang="ru-RU" sz="1600" dirty="0">
                <a:solidFill>
                  <a:srgbClr val="404040"/>
                </a:solidFill>
              </a:rPr>
              <a:t> </a:t>
            </a:r>
            <a:r>
              <a:rPr lang="ru-RU" sz="1600" b="1" dirty="0">
                <a:solidFill>
                  <a:srgbClr val="FF6D6D"/>
                </a:solidFill>
              </a:rPr>
              <a:t>9ИС-430</a:t>
            </a:r>
          </a:p>
        </p:txBody>
      </p:sp>
    </p:spTree>
    <p:extLst>
      <p:ext uri="{BB962C8B-B14F-4D97-AF65-F5344CB8AC3E}">
        <p14:creationId xmlns:p14="http://schemas.microsoft.com/office/powerpoint/2010/main" val="325768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645CFA9-F330-30F4-340E-F3818EA052C1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ПРОЕКТА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ЦЕЛИ КОМПАНИИ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71466548-56A2-F345-C7FC-6CB87E545828}"/>
              </a:ext>
            </a:extLst>
          </p:cNvPr>
          <p:cNvGrpSpPr/>
          <p:nvPr/>
        </p:nvGrpSpPr>
        <p:grpSpPr>
          <a:xfrm>
            <a:off x="388189" y="1897339"/>
            <a:ext cx="6538182" cy="1331740"/>
            <a:chOff x="388189" y="1616302"/>
            <a:chExt cx="6538182" cy="13317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25D2CD-9C53-1A3B-36A3-5CA543D93E69}"/>
                </a:ext>
              </a:extLst>
            </p:cNvPr>
            <p:cNvSpPr txBox="1"/>
            <p:nvPr/>
          </p:nvSpPr>
          <p:spPr>
            <a:xfrm>
              <a:off x="1138047" y="1739020"/>
              <a:ext cx="2406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Arial Black" panose="020B0A04020102020204" pitchFamily="34" charset="0"/>
                  <a:cs typeface="Arial" panose="020B0604020202020204" pitchFamily="34" charset="0"/>
                </a:rPr>
                <a:t>КОНКРЕТНОСТЬ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4DA688-A35E-E1EA-76B7-F53D5F0B5A7E}"/>
                </a:ext>
              </a:extLst>
            </p:cNvPr>
            <p:cNvSpPr txBox="1"/>
            <p:nvPr/>
          </p:nvSpPr>
          <p:spPr>
            <a:xfrm>
              <a:off x="1138047" y="2117045"/>
              <a:ext cx="57883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/>
              <a:r>
                <a:rPr lang="ru-RU" sz="1600" dirty="0">
                  <a:latin typeface="Arial" panose="020B0604020202020204" pitchFamily="34" charset="0"/>
                  <a:cs typeface="Arial" panose="020B0604020202020204" pitchFamily="34" charset="0"/>
                </a:rPr>
                <a:t>Создание ассортимента подарочных боксов высокого качества с индивидуальным дизайном, ориентированных на разные поводы и категории покупателей.</a:t>
              </a: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C92A46C5-0C4C-A390-9175-12CCC08AC9BC}"/>
                </a:ext>
              </a:extLst>
            </p:cNvPr>
            <p:cNvSpPr/>
            <p:nvPr/>
          </p:nvSpPr>
          <p:spPr>
            <a:xfrm>
              <a:off x="388189" y="1616302"/>
              <a:ext cx="749858" cy="749858"/>
            </a:xfrm>
            <a:prstGeom prst="ellipse">
              <a:avLst/>
            </a:prstGeom>
            <a:gradFill flip="none" rotWithShape="1">
              <a:gsLst>
                <a:gs pos="0">
                  <a:srgbClr val="809CFF"/>
                </a:gs>
                <a:gs pos="100000">
                  <a:srgbClr val="FFBDFF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>
                  <a:latin typeface="Arial Black" panose="020B0A04020102020204" pitchFamily="34" charset="0"/>
                </a:rPr>
                <a:t>К</a:t>
              </a:r>
              <a:endParaRPr lang="ru-RU" sz="40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F6392A20-5995-8527-0AD3-98EF8781032C}"/>
              </a:ext>
            </a:extLst>
          </p:cNvPr>
          <p:cNvGrpSpPr/>
          <p:nvPr/>
        </p:nvGrpSpPr>
        <p:grpSpPr>
          <a:xfrm>
            <a:off x="388189" y="3986776"/>
            <a:ext cx="6558830" cy="2061600"/>
            <a:chOff x="388189" y="3334760"/>
            <a:chExt cx="6558830" cy="20616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E7A095-2F90-AB17-DEE3-4A8BE5F97ECC}"/>
                </a:ext>
              </a:extLst>
            </p:cNvPr>
            <p:cNvSpPr txBox="1"/>
            <p:nvPr/>
          </p:nvSpPr>
          <p:spPr>
            <a:xfrm>
              <a:off x="1158695" y="3466031"/>
              <a:ext cx="2406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Arial Black" panose="020B0A04020102020204" pitchFamily="34" charset="0"/>
                  <a:cs typeface="Arial" panose="020B0604020202020204" pitchFamily="34" charset="0"/>
                </a:rPr>
                <a:t>ИЗМЕРИМОСТЬ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96FE96-52F2-F4B2-47C3-3612E9377203}"/>
                </a:ext>
              </a:extLst>
            </p:cNvPr>
            <p:cNvSpPr txBox="1"/>
            <p:nvPr/>
          </p:nvSpPr>
          <p:spPr>
            <a:xfrm>
              <a:off x="1158695" y="3826700"/>
              <a:ext cx="578832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/>
              <a:r>
                <a:rPr lang="ru-RU" sz="1600" dirty="0"/>
                <a:t>Количество реализованных наборов за первый квартал запуска: минимум 500 единиц.</a:t>
              </a:r>
            </a:p>
            <a:p>
              <a:pPr fontAlgn="base"/>
              <a:r>
                <a:rPr lang="ru-RU" sz="1600" dirty="0"/>
                <a:t>Уровень удовлетворенности клиентов: выше 8 баллов.</a:t>
              </a:r>
            </a:p>
            <a:p>
              <a:pPr fontAlgn="base"/>
              <a:r>
                <a:rPr lang="ru-RU" sz="1600" dirty="0"/>
                <a:t>Средний чек заказа: около 3000 рублей.</a:t>
              </a:r>
            </a:p>
            <a:p>
              <a:pPr fontAlgn="base"/>
              <a:r>
                <a:rPr lang="ru-RU" sz="1600" dirty="0"/>
                <a:t>Доля повторных заказов среди клиентов первого квартала: не менее 20%.</a:t>
              </a: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E39CED46-70D5-EB61-F84D-52A81ECAB3F7}"/>
                </a:ext>
              </a:extLst>
            </p:cNvPr>
            <p:cNvSpPr/>
            <p:nvPr/>
          </p:nvSpPr>
          <p:spPr>
            <a:xfrm>
              <a:off x="388189" y="3334760"/>
              <a:ext cx="749858" cy="749858"/>
            </a:xfrm>
            <a:prstGeom prst="ellipse">
              <a:avLst/>
            </a:prstGeom>
            <a:gradFill flip="none" rotWithShape="1">
              <a:gsLst>
                <a:gs pos="0">
                  <a:srgbClr val="809CFF"/>
                </a:gs>
                <a:gs pos="100000">
                  <a:srgbClr val="FFBDFF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>
                  <a:latin typeface="Arial Black" panose="020B0A04020102020204" pitchFamily="34" charset="0"/>
                </a:rPr>
                <a:t>И</a:t>
              </a:r>
              <a:endParaRPr lang="ru-RU" sz="40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F06FA32C-4E65-6ABD-D456-05C64B7CAC9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10001" y="851657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F077B0F9-8ED9-5E33-F1FD-C2E16FBC163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52151" y="480660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ACEE5331-3C46-8C84-A05E-DFC72961F4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74636" y="105964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ECF1B5E-C456-2E73-D516-FF3B50FAC050}"/>
              </a:ext>
            </a:extLst>
          </p:cNvPr>
          <p:cNvSpPr txBox="1"/>
          <p:nvPr/>
        </p:nvSpPr>
        <p:spPr>
          <a:xfrm>
            <a:off x="3810001" y="1221723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5378FF"/>
                </a:solidFill>
                <a:latin typeface="Arial Black" panose="020B0A04020102020204" pitchFamily="34" charset="0"/>
              </a:rPr>
              <a:t>SMART</a:t>
            </a:r>
            <a:endParaRPr lang="ru-RU" sz="1600" dirty="0">
              <a:solidFill>
                <a:srgbClr val="5378FF"/>
              </a:solidFill>
              <a:latin typeface="Arial Black" panose="020B0A04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8EC148-E2BE-6BC5-ED46-0F031021B492}"/>
              </a:ext>
            </a:extLst>
          </p:cNvPr>
          <p:cNvSpPr txBox="1"/>
          <p:nvPr/>
        </p:nvSpPr>
        <p:spPr>
          <a:xfrm>
            <a:off x="6232486" y="521614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809CFF"/>
                </a:solidFill>
                <a:latin typeface="Arial Black" panose="020B0A04020102020204" pitchFamily="34" charset="0"/>
              </a:rPr>
              <a:t>ФОРМА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4D3543-A83E-F6DF-6850-04AF43FE7E22}"/>
              </a:ext>
            </a:extLst>
          </p:cNvPr>
          <p:cNvSpPr txBox="1"/>
          <p:nvPr/>
        </p:nvSpPr>
        <p:spPr>
          <a:xfrm>
            <a:off x="8674636" y="174827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809CFF"/>
                </a:solidFill>
                <a:latin typeface="Arial Black" panose="020B0A04020102020204" pitchFamily="34" charset="0"/>
              </a:rPr>
              <a:t>РОЛИ</a:t>
            </a:r>
          </a:p>
        </p:txBody>
      </p: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69D2B6C2-933D-D723-D326-8802B6AA6DCD}"/>
              </a:ext>
            </a:extLst>
          </p:cNvPr>
          <p:cNvCxnSpPr>
            <a:cxnSpLocks/>
          </p:cNvCxnSpPr>
          <p:nvPr/>
        </p:nvCxnSpPr>
        <p:spPr>
          <a:xfrm flipV="1">
            <a:off x="8877300" y="5143500"/>
            <a:ext cx="4940300" cy="904876"/>
          </a:xfrm>
          <a:prstGeom prst="bentConnector3">
            <a:avLst>
              <a:gd name="adj1" fmla="val 50000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3F6E3F94-9DE2-8F03-194B-5C86BEE90661}"/>
              </a:ext>
            </a:extLst>
          </p:cNvPr>
          <p:cNvCxnSpPr>
            <a:cxnSpLocks/>
          </p:cNvCxnSpPr>
          <p:nvPr/>
        </p:nvCxnSpPr>
        <p:spPr>
          <a:xfrm flipV="1">
            <a:off x="5765800" y="6048376"/>
            <a:ext cx="3200400" cy="1012824"/>
          </a:xfrm>
          <a:prstGeom prst="bentConnector3">
            <a:avLst>
              <a:gd name="adj1" fmla="val 50397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7" name="Трехмерная модель 56" descr="Куб">
                <a:extLst>
                  <a:ext uri="{FF2B5EF4-FFF2-40B4-BE49-F238E27FC236}">
                    <a16:creationId xmlns:a16="http://schemas.microsoft.com/office/drawing/2014/main" id="{519A6EC1-1177-A680-EE2C-538BBD36330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92835366"/>
                  </p:ext>
                </p:extLst>
              </p:nvPr>
            </p:nvGraphicFramePr>
            <p:xfrm>
              <a:off x="7446311" y="911400"/>
              <a:ext cx="4061430" cy="483535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061430" cy="48353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 ax="9156160" ay="-2411871" az="-965102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9658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7" name="Трехмерная модель 56" descr="Куб">
                <a:extLst>
                  <a:ext uri="{FF2B5EF4-FFF2-40B4-BE49-F238E27FC236}">
                    <a16:creationId xmlns:a16="http://schemas.microsoft.com/office/drawing/2014/main" id="{519A6EC1-1177-A680-EE2C-538BBD3633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46311" y="911400"/>
                <a:ext cx="4061430" cy="4835358"/>
              </a:xfrm>
              <a:prstGeom prst="rect">
                <a:avLst/>
              </a:prstGeom>
              <a:noFill/>
              <a:ln>
                <a:noFill/>
              </a:ln>
            </p:spPr>
          </p:pic>
        </mc:Fallback>
      </mc:AlternateContent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56935A44-EB76-A2A8-01AA-7E883F2B3350}"/>
              </a:ext>
            </a:extLst>
          </p:cNvPr>
          <p:cNvSpPr/>
          <p:nvPr/>
        </p:nvSpPr>
        <p:spPr>
          <a:xfrm rot="1294737">
            <a:off x="7937872" y="2027054"/>
            <a:ext cx="3187698" cy="3187698"/>
          </a:xfrm>
          <a:custGeom>
            <a:avLst/>
            <a:gdLst>
              <a:gd name="csX0" fmla="*/ 0 w 3187698"/>
              <a:gd name="csY0" fmla="*/ 0 h 3187698"/>
              <a:gd name="csX1" fmla="*/ 3187698 w 3187698"/>
              <a:gd name="csY1" fmla="*/ 0 h 3187698"/>
              <a:gd name="csX2" fmla="*/ 3187698 w 3187698"/>
              <a:gd name="csY2" fmla="*/ 3187698 h 3187698"/>
              <a:gd name="csX3" fmla="*/ 0 w 3187698"/>
              <a:gd name="csY3" fmla="*/ 3187698 h 3187698"/>
              <a:gd name="csX4" fmla="*/ 0 w 3187698"/>
              <a:gd name="csY4" fmla="*/ 0 h 3187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87698" h="3187698" extrusionOk="0">
                <a:moveTo>
                  <a:pt x="0" y="0"/>
                </a:moveTo>
                <a:cubicBezTo>
                  <a:pt x="849342" y="2684"/>
                  <a:pt x="2823593" y="-42263"/>
                  <a:pt x="3187698" y="0"/>
                </a:cubicBezTo>
                <a:cubicBezTo>
                  <a:pt x="3313820" y="824226"/>
                  <a:pt x="3260253" y="2561438"/>
                  <a:pt x="3187698" y="3187698"/>
                </a:cubicBezTo>
                <a:cubicBezTo>
                  <a:pt x="1944870" y="3293289"/>
                  <a:pt x="746925" y="3186730"/>
                  <a:pt x="0" y="3187698"/>
                </a:cubicBezTo>
                <a:cubicBezTo>
                  <a:pt x="-162640" y="1940680"/>
                  <a:pt x="-135005" y="813739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04040"/>
            </a:solidFill>
            <a:extLst>
              <a:ext uri="{C807C97D-BFC1-408E-A445-0C87EB9F89A2}">
                <ask:lineSketchStyleProps xmlns:ask="http://schemas.microsoft.com/office/drawing/2018/sketchyshapes" sd="381225216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79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8B2C-420C-4B6D-EFAC-631BE9F6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CB84693-8130-2D3E-E698-80FFAEB51A87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2F9AE9C-3CF4-ACB7-ABCF-545CEC76AA09}"/>
              </a:ext>
            </a:extLst>
          </p:cNvPr>
          <p:cNvSpPr/>
          <p:nvPr/>
        </p:nvSpPr>
        <p:spPr>
          <a:xfrm>
            <a:off x="7366000" y="6048377"/>
            <a:ext cx="4826000" cy="809624"/>
          </a:xfrm>
          <a:prstGeom prst="rect">
            <a:avLst/>
          </a:prstGeom>
          <a:gradFill flip="none" rotWithShape="1">
            <a:gsLst>
              <a:gs pos="100000">
                <a:srgbClr val="5378FF"/>
              </a:gs>
              <a:gs pos="0">
                <a:srgbClr val="FFE5F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1E2C1-C8FA-D069-A3AE-C5EB668F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ПРОЕКТА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901C549-DD7E-9F59-0E3C-EA25037F0F86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ЦЕЛИ КОМПАНИИ</a:t>
            </a:r>
          </a:p>
        </p:txBody>
      </p: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25B36AB5-B131-B5A8-5970-7D7C15FBE48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10001" y="851657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63DBB454-86C5-D9CE-9014-60B5F6766E7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52151" y="480660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A3D71FA4-443E-98F9-A335-C81BF74034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74636" y="105964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0B4642C-42CF-796E-E9FF-14C77952BAF8}"/>
              </a:ext>
            </a:extLst>
          </p:cNvPr>
          <p:cNvSpPr txBox="1"/>
          <p:nvPr/>
        </p:nvSpPr>
        <p:spPr>
          <a:xfrm>
            <a:off x="3810001" y="1221723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5378FF"/>
                </a:solidFill>
                <a:latin typeface="Arial Black" panose="020B0A04020102020204" pitchFamily="34" charset="0"/>
              </a:rPr>
              <a:t>SMART</a:t>
            </a:r>
            <a:endParaRPr lang="ru-RU" sz="1600" dirty="0">
              <a:solidFill>
                <a:srgbClr val="5378FF"/>
              </a:solidFill>
              <a:latin typeface="Arial Black" panose="020B0A04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873B51-27CB-5FCC-CE1B-C550E0D3F76C}"/>
              </a:ext>
            </a:extLst>
          </p:cNvPr>
          <p:cNvSpPr txBox="1"/>
          <p:nvPr/>
        </p:nvSpPr>
        <p:spPr>
          <a:xfrm>
            <a:off x="6232486" y="521614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809CFF"/>
                </a:solidFill>
                <a:latin typeface="Arial Black" panose="020B0A04020102020204" pitchFamily="34" charset="0"/>
              </a:rPr>
              <a:t>ФОРМА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BB054F-F87C-7878-7444-605175BB24C9}"/>
              </a:ext>
            </a:extLst>
          </p:cNvPr>
          <p:cNvSpPr txBox="1"/>
          <p:nvPr/>
        </p:nvSpPr>
        <p:spPr>
          <a:xfrm>
            <a:off x="8674636" y="174827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809CFF"/>
                </a:solidFill>
                <a:latin typeface="Arial Black" panose="020B0A04020102020204" pitchFamily="34" charset="0"/>
              </a:rPr>
              <a:t>РОЛИ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78C5CA6-720C-9C55-E9AB-7D35B55A70FC}"/>
              </a:ext>
            </a:extLst>
          </p:cNvPr>
          <p:cNvSpPr/>
          <p:nvPr/>
        </p:nvSpPr>
        <p:spPr>
          <a:xfrm>
            <a:off x="11347450" y="5140836"/>
            <a:ext cx="844550" cy="1717163"/>
          </a:xfrm>
          <a:prstGeom prst="rect">
            <a:avLst/>
          </a:prstGeom>
          <a:gradFill flip="none" rotWithShape="1">
            <a:gsLst>
              <a:gs pos="100000">
                <a:srgbClr val="5378FF"/>
              </a:gs>
              <a:gs pos="0">
                <a:srgbClr val="FFE5FF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21B06788-E76C-B0ED-C9E6-861E63C0F844}"/>
              </a:ext>
            </a:extLst>
          </p:cNvPr>
          <p:cNvCxnSpPr>
            <a:cxnSpLocks/>
          </p:cNvCxnSpPr>
          <p:nvPr/>
        </p:nvCxnSpPr>
        <p:spPr>
          <a:xfrm flipV="1">
            <a:off x="5765800" y="6048376"/>
            <a:ext cx="3200400" cy="1012824"/>
          </a:xfrm>
          <a:prstGeom prst="bentConnector3">
            <a:avLst>
              <a:gd name="adj1" fmla="val 50397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49A5C152-8B77-B6E7-F6BF-60AB01A59612}"/>
              </a:ext>
            </a:extLst>
          </p:cNvPr>
          <p:cNvGrpSpPr/>
          <p:nvPr/>
        </p:nvGrpSpPr>
        <p:grpSpPr>
          <a:xfrm>
            <a:off x="194090" y="1812047"/>
            <a:ext cx="6538182" cy="1577961"/>
            <a:chOff x="388189" y="1616302"/>
            <a:chExt cx="6538182" cy="157796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7A311E-B3FA-4819-642C-75843C6D9FAB}"/>
                </a:ext>
              </a:extLst>
            </p:cNvPr>
            <p:cNvSpPr txBox="1"/>
            <p:nvPr/>
          </p:nvSpPr>
          <p:spPr>
            <a:xfrm>
              <a:off x="1138047" y="1739020"/>
              <a:ext cx="5210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Arial Black" panose="020B0A04020102020204" pitchFamily="34" charset="0"/>
                  <a:cs typeface="Arial" panose="020B0604020202020204" pitchFamily="34" charset="0"/>
                </a:rPr>
                <a:t>ДОСТИЖИМОСТЬ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2B5926-6335-2855-4D19-797D61E343FD}"/>
                </a:ext>
              </a:extLst>
            </p:cNvPr>
            <p:cNvSpPr txBox="1"/>
            <p:nvPr/>
          </p:nvSpPr>
          <p:spPr>
            <a:xfrm>
              <a:off x="1138047" y="2117045"/>
              <a:ext cx="578832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/>
              <a:r>
                <a:rPr lang="ru-RU" sz="1600" dirty="0">
                  <a:latin typeface="Arial" panose="020B0604020202020204" pitchFamily="34" charset="0"/>
                  <a:cs typeface="Arial" panose="020B0604020202020204" pitchFamily="34" charset="0"/>
                </a:rPr>
                <a:t>Возможность масштабирования бизнеса в сегменте уникальных подарков.</a:t>
              </a:r>
            </a:p>
            <a:p>
              <a:pPr fontAlgn="base"/>
              <a:r>
                <a:rPr lang="ru-RU" sz="1600" dirty="0">
                  <a:latin typeface="Arial" panose="020B0604020202020204" pitchFamily="34" charset="0"/>
                  <a:cs typeface="Arial" panose="020B0604020202020204" pitchFamily="34" charset="0"/>
                </a:rPr>
                <a:t>Наличие квалифицированной команды дизайнеров и маркетологов.</a:t>
              </a: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2C736398-C1EF-30A5-52EE-6DDFA12B776E}"/>
                </a:ext>
              </a:extLst>
            </p:cNvPr>
            <p:cNvSpPr/>
            <p:nvPr/>
          </p:nvSpPr>
          <p:spPr>
            <a:xfrm>
              <a:off x="388189" y="1616302"/>
              <a:ext cx="749858" cy="749858"/>
            </a:xfrm>
            <a:prstGeom prst="ellipse">
              <a:avLst/>
            </a:prstGeom>
            <a:gradFill flip="none" rotWithShape="1">
              <a:gsLst>
                <a:gs pos="0">
                  <a:srgbClr val="809CFF"/>
                </a:gs>
                <a:gs pos="100000">
                  <a:srgbClr val="FFBDFF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>
                  <a:latin typeface="Arial Black" panose="020B0A04020102020204" pitchFamily="34" charset="0"/>
                </a:rPr>
                <a:t>Д</a:t>
              </a:r>
              <a:endParaRPr lang="ru-RU" sz="40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977540F-6A89-360C-B61B-6B935DD455AA}"/>
              </a:ext>
            </a:extLst>
          </p:cNvPr>
          <p:cNvGrpSpPr/>
          <p:nvPr/>
        </p:nvGrpSpPr>
        <p:grpSpPr>
          <a:xfrm>
            <a:off x="194090" y="4565138"/>
            <a:ext cx="6558830" cy="2061600"/>
            <a:chOff x="388189" y="3334760"/>
            <a:chExt cx="6558830" cy="20616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4A969A-CE42-78C2-C989-B10CA94FC9B2}"/>
                </a:ext>
              </a:extLst>
            </p:cNvPr>
            <p:cNvSpPr txBox="1"/>
            <p:nvPr/>
          </p:nvSpPr>
          <p:spPr>
            <a:xfrm>
              <a:off x="1158694" y="3466031"/>
              <a:ext cx="4370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latin typeface="Arial Black" panose="020B0A04020102020204" pitchFamily="34" charset="0"/>
                  <a:cs typeface="Arial" panose="020B0604020202020204" pitchFamily="34" charset="0"/>
                </a:rPr>
                <a:t>ОГРАНИЧЕНИЕ ПО ВРЕМЕНИ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E83359-AD99-73C3-A5E2-8A7EC364A040}"/>
                </a:ext>
              </a:extLst>
            </p:cNvPr>
            <p:cNvSpPr txBox="1"/>
            <p:nvPr/>
          </p:nvSpPr>
          <p:spPr>
            <a:xfrm>
              <a:off x="1158695" y="3826700"/>
              <a:ext cx="578832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/>
              <a:r>
                <a:rPr lang="ru-RU" sz="1600" dirty="0"/>
                <a:t>Старт продаж</a:t>
              </a:r>
              <a:r>
                <a:rPr lang="en-US" sz="1600" dirty="0"/>
                <a:t>: </a:t>
              </a:r>
              <a:r>
                <a:rPr lang="ru-RU" sz="1600" dirty="0"/>
                <a:t>три месяца после начала разработки концепции продукта.</a:t>
              </a:r>
            </a:p>
            <a:p>
              <a:pPr fontAlgn="base"/>
              <a:r>
                <a:rPr lang="ru-RU" sz="1600" dirty="0"/>
                <a:t>Точка безубыточности: шесть месяцев с момента старта продаж.</a:t>
              </a:r>
            </a:p>
            <a:p>
              <a:pPr fontAlgn="base"/>
              <a:r>
                <a:rPr lang="ru-RU" sz="1600" dirty="0"/>
                <a:t>Рекламная кампания: первый месяц после старта продаж.</a:t>
              </a:r>
            </a:p>
            <a:p>
              <a:pPr fontAlgn="base"/>
              <a:r>
                <a:rPr lang="ru-RU" sz="1600" dirty="0"/>
                <a:t>Клиентская база: увеличение количества постоянных клиентов на 30% каждый последующий квартал.</a:t>
              </a: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4A4F755A-99B1-90EF-61DB-5FFA87A51913}"/>
                </a:ext>
              </a:extLst>
            </p:cNvPr>
            <p:cNvSpPr/>
            <p:nvPr/>
          </p:nvSpPr>
          <p:spPr>
            <a:xfrm>
              <a:off x="388189" y="3334760"/>
              <a:ext cx="749858" cy="749858"/>
            </a:xfrm>
            <a:prstGeom prst="ellipse">
              <a:avLst/>
            </a:prstGeom>
            <a:gradFill flip="none" rotWithShape="1">
              <a:gsLst>
                <a:gs pos="0">
                  <a:srgbClr val="809CFF"/>
                </a:gs>
                <a:gs pos="100000">
                  <a:srgbClr val="FFBDFF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>
                  <a:latin typeface="Arial Black" panose="020B0A04020102020204" pitchFamily="34" charset="0"/>
                </a:rPr>
                <a:t>О</a:t>
              </a:r>
              <a:endParaRPr lang="ru-RU" sz="40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4DB07847-ABE1-ED8F-A495-7B609EB7B951}"/>
              </a:ext>
            </a:extLst>
          </p:cNvPr>
          <p:cNvGrpSpPr/>
          <p:nvPr/>
        </p:nvGrpSpPr>
        <p:grpSpPr>
          <a:xfrm>
            <a:off x="5459728" y="2788803"/>
            <a:ext cx="6538182" cy="2128119"/>
            <a:chOff x="572219" y="1558586"/>
            <a:chExt cx="6538182" cy="212811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E167FB-2ED2-864A-7BA1-713BAE58958B}"/>
                </a:ext>
              </a:extLst>
            </p:cNvPr>
            <p:cNvSpPr txBox="1"/>
            <p:nvPr/>
          </p:nvSpPr>
          <p:spPr>
            <a:xfrm>
              <a:off x="1138047" y="1739020"/>
              <a:ext cx="5210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b="1" dirty="0">
                  <a:latin typeface="Arial Black" panose="020B0A04020102020204" pitchFamily="34" charset="0"/>
                  <a:cs typeface="Arial" panose="020B0604020202020204" pitchFamily="34" charset="0"/>
                </a:rPr>
                <a:t>РЕАЛИСТИЧНОСТЬ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32E636-E015-188C-AC95-274447BB23B7}"/>
                </a:ext>
              </a:extLst>
            </p:cNvPr>
            <p:cNvSpPr txBox="1"/>
            <p:nvPr/>
          </p:nvSpPr>
          <p:spPr>
            <a:xfrm>
              <a:off x="572219" y="2117045"/>
              <a:ext cx="56849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fontAlgn="base"/>
              <a:r>
                <a:rPr lang="ru-RU" sz="1600" dirty="0"/>
                <a:t>Проведение маркетингового исследования подтверждает наличие спроса на эксклюзивные подарочные боксы.</a:t>
              </a:r>
            </a:p>
            <a:p>
              <a:pPr algn="r" fontAlgn="base"/>
              <a:endParaRPr lang="ru-RU" sz="1600" dirty="0"/>
            </a:p>
            <a:p>
              <a:pPr algn="r" fontAlgn="base"/>
              <a:r>
                <a:rPr lang="ru-RU" sz="1600" dirty="0"/>
                <a:t>Использование качественных материалов и компонентов.</a:t>
              </a:r>
            </a:p>
            <a:p>
              <a:pPr algn="r" fontAlgn="base"/>
              <a:endParaRPr lang="ru-RU" sz="1600" dirty="0"/>
            </a:p>
            <a:p>
              <a:pPr algn="r" fontAlgn="base"/>
              <a:r>
                <a:rPr lang="ru-RU" sz="1600" dirty="0"/>
                <a:t>Возможности расширения ассортиментной линейки.</a:t>
              </a:r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D193C0F9-2F59-A701-6850-FECE44B57FAF}"/>
                </a:ext>
              </a:extLst>
            </p:cNvPr>
            <p:cNvSpPr/>
            <p:nvPr/>
          </p:nvSpPr>
          <p:spPr>
            <a:xfrm>
              <a:off x="6360543" y="1558586"/>
              <a:ext cx="749858" cy="749858"/>
            </a:xfrm>
            <a:prstGeom prst="ellipse">
              <a:avLst/>
            </a:prstGeom>
            <a:gradFill flip="none" rotWithShape="1">
              <a:gsLst>
                <a:gs pos="0">
                  <a:srgbClr val="809CFF"/>
                </a:gs>
                <a:gs pos="100000">
                  <a:srgbClr val="FFBDFF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>
                  <a:latin typeface="Arial Black" panose="020B0A04020102020204" pitchFamily="34" charset="0"/>
                </a:rPr>
                <a:t>Р</a:t>
              </a:r>
              <a:endParaRPr lang="ru-RU" sz="40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EA4DFAA8-0416-0105-7FA4-762615F269D8}"/>
              </a:ext>
            </a:extLst>
          </p:cNvPr>
          <p:cNvCxnSpPr>
            <a:cxnSpLocks/>
          </p:cNvCxnSpPr>
          <p:nvPr/>
        </p:nvCxnSpPr>
        <p:spPr>
          <a:xfrm flipV="1">
            <a:off x="8877300" y="5143500"/>
            <a:ext cx="4940300" cy="904876"/>
          </a:xfrm>
          <a:prstGeom prst="bentConnector3">
            <a:avLst>
              <a:gd name="adj1" fmla="val 50000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502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FBA7-3DF9-7AB0-602B-0A2DF3DC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Овал 44">
            <a:extLst>
              <a:ext uri="{FF2B5EF4-FFF2-40B4-BE49-F238E27FC236}">
                <a16:creationId xmlns:a16="http://schemas.microsoft.com/office/drawing/2014/main" id="{8462EFB4-08AA-33CF-C07F-4C93FD1BD9DB}"/>
              </a:ext>
            </a:extLst>
          </p:cNvPr>
          <p:cNvSpPr/>
          <p:nvPr/>
        </p:nvSpPr>
        <p:spPr>
          <a:xfrm>
            <a:off x="413295" y="604839"/>
            <a:ext cx="5456717" cy="5488966"/>
          </a:xfrm>
          <a:prstGeom prst="ellipse">
            <a:avLst/>
          </a:prstGeom>
          <a:solidFill>
            <a:srgbClr val="C28FFF">
              <a:alpha val="11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4FC5923E-5C0C-AE7E-4DC1-C2E898C6E008}"/>
              </a:ext>
            </a:extLst>
          </p:cNvPr>
          <p:cNvSpPr/>
          <p:nvPr/>
        </p:nvSpPr>
        <p:spPr>
          <a:xfrm>
            <a:off x="6486750" y="633830"/>
            <a:ext cx="5997887" cy="5981088"/>
          </a:xfrm>
          <a:prstGeom prst="ellipse">
            <a:avLst/>
          </a:prstGeom>
          <a:solidFill>
            <a:srgbClr val="C28FFF">
              <a:alpha val="11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B80BC25-BEE6-3C37-6821-59B71F2AE5F3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CFFA8-959D-B07E-EF12-D7427741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ПРОЕКТА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69D96C-E82B-E6B6-1458-3183412EE80D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ФОРМА ОРГАНИЗАЦИИ</a:t>
            </a:r>
          </a:p>
        </p:txBody>
      </p: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AC3AC1DC-379F-BE18-6766-ACAAB7D8F0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02201" y="851656"/>
            <a:ext cx="1330287" cy="351412"/>
          </a:xfrm>
          <a:prstGeom prst="bentConnector3">
            <a:avLst>
              <a:gd name="adj1" fmla="val 4175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A682593A-7CEE-A016-2FCD-D045EED7AA6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52151" y="480660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25E43F36-3D6C-9223-457B-8DE6084F502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74636" y="105964"/>
            <a:ext cx="2422485" cy="352149"/>
          </a:xfrm>
          <a:prstGeom prst="bentConnector3">
            <a:avLst>
              <a:gd name="adj1" fmla="val -328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337F7B2-B02C-E393-176C-BE146B8D6805}"/>
              </a:ext>
            </a:extLst>
          </p:cNvPr>
          <p:cNvSpPr txBox="1"/>
          <p:nvPr/>
        </p:nvSpPr>
        <p:spPr>
          <a:xfrm>
            <a:off x="4813300" y="891523"/>
            <a:ext cx="1419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809CFF"/>
                </a:solidFill>
                <a:latin typeface="Arial Black" panose="020B0A04020102020204" pitchFamily="34" charset="0"/>
              </a:rPr>
              <a:t>SMART</a:t>
            </a:r>
            <a:endParaRPr lang="ru-RU" sz="1600" dirty="0">
              <a:solidFill>
                <a:srgbClr val="809CFF"/>
              </a:solidFill>
              <a:latin typeface="Arial Black" panose="020B0A04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F9B90D-A37B-D5EA-209D-30D3C2883D4A}"/>
              </a:ext>
            </a:extLst>
          </p:cNvPr>
          <p:cNvSpPr txBox="1"/>
          <p:nvPr/>
        </p:nvSpPr>
        <p:spPr>
          <a:xfrm>
            <a:off x="6232486" y="864514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5378FF"/>
                </a:solidFill>
                <a:latin typeface="Arial Black" panose="020B0A04020102020204" pitchFamily="34" charset="0"/>
              </a:rPr>
              <a:t>ФОРМА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2354AC-C6A1-9718-0423-1D22F0216D59}"/>
              </a:ext>
            </a:extLst>
          </p:cNvPr>
          <p:cNvSpPr txBox="1"/>
          <p:nvPr/>
        </p:nvSpPr>
        <p:spPr>
          <a:xfrm>
            <a:off x="8674636" y="174827"/>
            <a:ext cx="2422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809CFF"/>
                </a:solidFill>
                <a:latin typeface="Arial Black" panose="020B0A04020102020204" pitchFamily="34" charset="0"/>
              </a:rPr>
              <a:t>РОЛИ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31B965-42A4-368D-2687-EE1441504D4C}"/>
              </a:ext>
            </a:extLst>
          </p:cNvPr>
          <p:cNvSpPr/>
          <p:nvPr/>
        </p:nvSpPr>
        <p:spPr>
          <a:xfrm>
            <a:off x="3302000" y="6377341"/>
            <a:ext cx="6102350" cy="809624"/>
          </a:xfrm>
          <a:prstGeom prst="rect">
            <a:avLst/>
          </a:prstGeom>
          <a:gradFill flip="none" rotWithShape="1">
            <a:gsLst>
              <a:gs pos="100000">
                <a:srgbClr val="5378FF"/>
              </a:gs>
              <a:gs pos="0">
                <a:srgbClr val="FFE5F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EE922D-E3F7-C001-2741-D45032A8340B}"/>
              </a:ext>
            </a:extLst>
          </p:cNvPr>
          <p:cNvSpPr/>
          <p:nvPr/>
        </p:nvSpPr>
        <p:spPr>
          <a:xfrm flipV="1">
            <a:off x="-8980" y="6251926"/>
            <a:ext cx="844550" cy="1717163"/>
          </a:xfrm>
          <a:prstGeom prst="rect">
            <a:avLst/>
          </a:prstGeom>
          <a:gradFill flip="none" rotWithShape="1">
            <a:gsLst>
              <a:gs pos="100000">
                <a:srgbClr val="5378FF"/>
              </a:gs>
              <a:gs pos="0">
                <a:srgbClr val="FFE5FF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2F899864-DE16-8E6D-85E2-459CB2BE7801}"/>
              </a:ext>
            </a:extLst>
          </p:cNvPr>
          <p:cNvCxnSpPr>
            <a:cxnSpLocks/>
          </p:cNvCxnSpPr>
          <p:nvPr/>
        </p:nvCxnSpPr>
        <p:spPr>
          <a:xfrm flipV="1">
            <a:off x="1387516" y="6377341"/>
            <a:ext cx="5003799" cy="1012824"/>
          </a:xfrm>
          <a:prstGeom prst="bentConnector3">
            <a:avLst>
              <a:gd name="adj1" fmla="val 38071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69608442-DE6B-6A44-DA0C-1282F2DFE094}"/>
              </a:ext>
            </a:extLst>
          </p:cNvPr>
          <p:cNvCxnSpPr>
            <a:cxnSpLocks/>
          </p:cNvCxnSpPr>
          <p:nvPr/>
        </p:nvCxnSpPr>
        <p:spPr>
          <a:xfrm flipH="1" flipV="1">
            <a:off x="6252151" y="6377341"/>
            <a:ext cx="3200400" cy="1012824"/>
          </a:xfrm>
          <a:prstGeom prst="bentConnector3">
            <a:avLst>
              <a:gd name="adj1" fmla="val 1587"/>
            </a:avLst>
          </a:prstGeom>
          <a:ln w="12700">
            <a:solidFill>
              <a:srgbClr val="5378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C4E31E3-25D2-324B-DA72-A63B6822068A}"/>
              </a:ext>
            </a:extLst>
          </p:cNvPr>
          <p:cNvSpPr txBox="1"/>
          <p:nvPr/>
        </p:nvSpPr>
        <p:spPr>
          <a:xfrm>
            <a:off x="5635696" y="1896005"/>
            <a:ext cx="10406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ИП</a:t>
            </a:r>
          </a:p>
        </p:txBody>
      </p:sp>
      <p:sp>
        <p:nvSpPr>
          <p:cNvPr id="35" name="Заголовок 1">
            <a:extLst>
              <a:ext uri="{FF2B5EF4-FFF2-40B4-BE49-F238E27FC236}">
                <a16:creationId xmlns:a16="http://schemas.microsoft.com/office/drawing/2014/main" id="{124FBD38-D392-A7F6-EBDD-C3A658596863}"/>
              </a:ext>
            </a:extLst>
          </p:cNvPr>
          <p:cNvSpPr txBox="1">
            <a:spLocks/>
          </p:cNvSpPr>
          <p:nvPr/>
        </p:nvSpPr>
        <p:spPr>
          <a:xfrm>
            <a:off x="590821" y="2297041"/>
            <a:ext cx="3219180" cy="619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rgbClr val="C28FFF"/>
                </a:solidFill>
                <a:latin typeface="Arial Black" panose="020B0A04020102020204" pitchFamily="34" charset="0"/>
              </a:rPr>
              <a:t>ПРЕИМУЩЕСТВА</a:t>
            </a:r>
          </a:p>
        </p:txBody>
      </p:sp>
      <p:sp>
        <p:nvSpPr>
          <p:cNvPr id="36" name="Заголовок 1">
            <a:extLst>
              <a:ext uri="{FF2B5EF4-FFF2-40B4-BE49-F238E27FC236}">
                <a16:creationId xmlns:a16="http://schemas.microsoft.com/office/drawing/2014/main" id="{251864C1-2A52-3F58-F15F-F5E649885C3A}"/>
              </a:ext>
            </a:extLst>
          </p:cNvPr>
          <p:cNvSpPr txBox="1">
            <a:spLocks/>
          </p:cNvSpPr>
          <p:nvPr/>
        </p:nvSpPr>
        <p:spPr>
          <a:xfrm>
            <a:off x="7581900" y="2297040"/>
            <a:ext cx="4019279" cy="619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rgbClr val="C28FFF"/>
                </a:solidFill>
                <a:latin typeface="Arial Black" panose="020B0A04020102020204" pitchFamily="34" charset="0"/>
              </a:rPr>
              <a:t>НАЛОГООБЛАЖЕНИЕ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7DFAA2-0C53-A622-C06D-D42BE8FA2067}"/>
              </a:ext>
            </a:extLst>
          </p:cNvPr>
          <p:cNvSpPr txBox="1"/>
          <p:nvPr/>
        </p:nvSpPr>
        <p:spPr>
          <a:xfrm>
            <a:off x="590821" y="2860367"/>
            <a:ext cx="4787900" cy="242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Простота регистрации и прекращения деятельности.</a:t>
            </a:r>
          </a:p>
          <a:p>
            <a:pPr marL="285750" indent="-285750">
              <a:buFontTx/>
              <a:buChar char="-"/>
            </a:pPr>
            <a:endParaRPr lang="ru-RU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Минимальное количество документов.</a:t>
            </a:r>
          </a:p>
          <a:p>
            <a:pPr marL="285750" indent="-285750">
              <a:buFontTx/>
              <a:buChar char="-"/>
            </a:pPr>
            <a:endParaRPr lang="ru-RU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Гибкость управления бизнесом.</a:t>
            </a:r>
          </a:p>
          <a:p>
            <a:pPr marL="285750" indent="-285750">
              <a:buFontTx/>
              <a:buChar char="-"/>
            </a:pPr>
            <a:endParaRPr lang="ru-RU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Налоговые льготы.</a:t>
            </a:r>
          </a:p>
          <a:p>
            <a:pPr marL="285750" indent="-285750">
              <a:buFontTx/>
              <a:buChar char="-"/>
            </a:pPr>
            <a:endParaRPr lang="ru-RU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Упрощенная система налогообложения.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09C977-F425-DA7C-8D9D-54139061259D}"/>
              </a:ext>
            </a:extLst>
          </p:cNvPr>
          <p:cNvSpPr txBox="1"/>
          <p:nvPr/>
        </p:nvSpPr>
        <p:spPr>
          <a:xfrm>
            <a:off x="7295881" y="2859628"/>
            <a:ext cx="4787900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Упрощенная система налогообложения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Доходы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ставка 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Платится процент от общей суммы выручки.</a:t>
            </a:r>
          </a:p>
          <a:p>
            <a:pPr marL="285750" indent="-285750">
              <a:buFontTx/>
              <a:buChar char="-"/>
            </a:pPr>
            <a:endParaRPr lang="ru-RU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Доходы – расходы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ставка 15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Платится процент от разницы между доходами и расходами.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744DCD90-38BC-FB95-19E7-E62133BBDE1F}"/>
              </a:ext>
            </a:extLst>
          </p:cNvPr>
          <p:cNvSpPr/>
          <p:nvPr/>
        </p:nvSpPr>
        <p:spPr>
          <a:xfrm flipH="1">
            <a:off x="11354345" y="6251925"/>
            <a:ext cx="844550" cy="1717163"/>
          </a:xfrm>
          <a:prstGeom prst="rect">
            <a:avLst/>
          </a:prstGeom>
          <a:gradFill flip="none" rotWithShape="1">
            <a:gsLst>
              <a:gs pos="100000">
                <a:srgbClr val="5378FF"/>
              </a:gs>
              <a:gs pos="0">
                <a:srgbClr val="FFE5FF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806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55731-5789-5217-B363-6784678F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Трехмерная модель 17" descr="Значок мужчины">
                <a:extLst>
                  <a:ext uri="{FF2B5EF4-FFF2-40B4-BE49-F238E27FC236}">
                    <a16:creationId xmlns:a16="http://schemas.microsoft.com/office/drawing/2014/main" id="{CF6C3751-ED68-E12A-582F-BB62CEB62C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52352974"/>
                  </p:ext>
                </p:extLst>
              </p:nvPr>
            </p:nvGraphicFramePr>
            <p:xfrm>
              <a:off x="1037187" y="1541979"/>
              <a:ext cx="1970574" cy="547381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70574" cy="5473816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1061283" ay="1822001" az="54949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8355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Трехмерная модель 17" descr="Значок мужчины">
                <a:extLst>
                  <a:ext uri="{FF2B5EF4-FFF2-40B4-BE49-F238E27FC236}">
                    <a16:creationId xmlns:a16="http://schemas.microsoft.com/office/drawing/2014/main" id="{CF6C3751-ED68-E12A-582F-BB62CEB62C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7187" y="1541979"/>
                <a:ext cx="1970574" cy="5473816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D93E6D6-B1A1-16BE-AC5F-1C1B72E188F7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03CE9-1122-8CC2-815C-DCEEB253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ПРОЕКТА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8A208B6-CBD4-889A-9BE9-36568BEF3B8A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КЛЮЧЕВЫЕ УЧАСТНИКИ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C2B505B-2F7B-2445-3EA5-42B0F60BAA23}"/>
              </a:ext>
            </a:extLst>
          </p:cNvPr>
          <p:cNvGrpSpPr/>
          <p:nvPr/>
        </p:nvGrpSpPr>
        <p:grpSpPr>
          <a:xfrm>
            <a:off x="5156200" y="0"/>
            <a:ext cx="6642288" cy="1234729"/>
            <a:chOff x="3810001" y="105964"/>
            <a:chExt cx="7287120" cy="1097842"/>
          </a:xfrm>
        </p:grpSpPr>
        <p:cxnSp>
          <p:nvCxnSpPr>
            <p:cNvPr id="26" name="Соединитель: уступ 25">
              <a:extLst>
                <a:ext uri="{FF2B5EF4-FFF2-40B4-BE49-F238E27FC236}">
                  <a16:creationId xmlns:a16="http://schemas.microsoft.com/office/drawing/2014/main" id="{8AED4F7D-E080-409D-FE49-C7ADD2D2B52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810001" y="851657"/>
              <a:ext cx="2422485" cy="352149"/>
            </a:xfrm>
            <a:prstGeom prst="bentConnector3">
              <a:avLst>
                <a:gd name="adj1" fmla="val -328"/>
              </a:avLst>
            </a:prstGeom>
            <a:ln w="12700">
              <a:solidFill>
                <a:srgbClr val="5378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Соединитель: уступ 28">
              <a:extLst>
                <a:ext uri="{FF2B5EF4-FFF2-40B4-BE49-F238E27FC236}">
                  <a16:creationId xmlns:a16="http://schemas.microsoft.com/office/drawing/2014/main" id="{D06B6A07-0E48-278F-53B6-0CF9C049966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252151" y="480660"/>
              <a:ext cx="2422485" cy="352149"/>
            </a:xfrm>
            <a:prstGeom prst="bentConnector3">
              <a:avLst>
                <a:gd name="adj1" fmla="val -328"/>
              </a:avLst>
            </a:prstGeom>
            <a:ln w="12700">
              <a:solidFill>
                <a:srgbClr val="5378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Соединитель: уступ 29">
              <a:extLst>
                <a:ext uri="{FF2B5EF4-FFF2-40B4-BE49-F238E27FC236}">
                  <a16:creationId xmlns:a16="http://schemas.microsoft.com/office/drawing/2014/main" id="{2692F3D0-A90A-EC69-FBAD-0C4C1A918F1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674636" y="105964"/>
              <a:ext cx="2422485" cy="352149"/>
            </a:xfrm>
            <a:prstGeom prst="bentConnector3">
              <a:avLst>
                <a:gd name="adj1" fmla="val -328"/>
              </a:avLst>
            </a:prstGeom>
            <a:ln w="12700">
              <a:solidFill>
                <a:srgbClr val="5378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0138208-59E9-D445-259B-DD2808703167}"/>
              </a:ext>
            </a:extLst>
          </p:cNvPr>
          <p:cNvGrpSpPr/>
          <p:nvPr/>
        </p:nvGrpSpPr>
        <p:grpSpPr>
          <a:xfrm flipH="1">
            <a:off x="-1638300" y="5153536"/>
            <a:ext cx="8051800" cy="1920364"/>
            <a:chOff x="5765800" y="5140836"/>
            <a:chExt cx="8051800" cy="1920364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60B977B-F1FA-9BF1-3ECE-27CB4C7317D1}"/>
                </a:ext>
              </a:extLst>
            </p:cNvPr>
            <p:cNvSpPr/>
            <p:nvPr/>
          </p:nvSpPr>
          <p:spPr>
            <a:xfrm>
              <a:off x="7366000" y="6048377"/>
              <a:ext cx="4826000" cy="809624"/>
            </a:xfrm>
            <a:prstGeom prst="rect">
              <a:avLst/>
            </a:prstGeom>
            <a:gradFill flip="none" rotWithShape="1">
              <a:gsLst>
                <a:gs pos="100000">
                  <a:srgbClr val="5378FF"/>
                </a:gs>
                <a:gs pos="0">
                  <a:srgbClr val="FFE5FF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8D486419-6DB8-63DC-2697-71B57B38B8E2}"/>
                </a:ext>
              </a:extLst>
            </p:cNvPr>
            <p:cNvSpPr/>
            <p:nvPr/>
          </p:nvSpPr>
          <p:spPr>
            <a:xfrm>
              <a:off x="11347450" y="5140836"/>
              <a:ext cx="844550" cy="1717163"/>
            </a:xfrm>
            <a:prstGeom prst="rect">
              <a:avLst/>
            </a:prstGeom>
            <a:gradFill flip="none" rotWithShape="1">
              <a:gsLst>
                <a:gs pos="100000">
                  <a:srgbClr val="5378FF"/>
                </a:gs>
                <a:gs pos="0">
                  <a:srgbClr val="FFE5FF"/>
                </a:gs>
              </a:gsLst>
              <a:lin ang="6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49" name="Соединитель: уступ 48">
              <a:extLst>
                <a:ext uri="{FF2B5EF4-FFF2-40B4-BE49-F238E27FC236}">
                  <a16:creationId xmlns:a16="http://schemas.microsoft.com/office/drawing/2014/main" id="{D6D49B45-9E03-CD62-98C5-2C994B233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5800" y="6048376"/>
              <a:ext cx="3200400" cy="1012824"/>
            </a:xfrm>
            <a:prstGeom prst="bentConnector3">
              <a:avLst>
                <a:gd name="adj1" fmla="val 50397"/>
              </a:avLst>
            </a:prstGeom>
            <a:ln w="12700">
              <a:solidFill>
                <a:srgbClr val="5378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Соединитель: уступ 43">
              <a:extLst>
                <a:ext uri="{FF2B5EF4-FFF2-40B4-BE49-F238E27FC236}">
                  <a16:creationId xmlns:a16="http://schemas.microsoft.com/office/drawing/2014/main" id="{FA3F6EAB-09C6-6FF8-7C70-38B7AF2D0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7300" y="5143500"/>
              <a:ext cx="4940300" cy="9048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5378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1CD3301-F7C1-EEBB-4D23-F1A8A3802E5B}"/>
              </a:ext>
            </a:extLst>
          </p:cNvPr>
          <p:cNvGrpSpPr/>
          <p:nvPr/>
        </p:nvGrpSpPr>
        <p:grpSpPr>
          <a:xfrm>
            <a:off x="4978401" y="461844"/>
            <a:ext cx="6868020" cy="813950"/>
            <a:chOff x="4178301" y="492327"/>
            <a:chExt cx="6868020" cy="81395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D44095-124B-B8D4-DF3E-94FAFB7CEB7A}"/>
                </a:ext>
              </a:extLst>
            </p:cNvPr>
            <p:cNvSpPr txBox="1"/>
            <p:nvPr/>
          </p:nvSpPr>
          <p:spPr>
            <a:xfrm>
              <a:off x="4178301" y="967723"/>
              <a:ext cx="24224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809CFF"/>
                  </a:solidFill>
                  <a:latin typeface="Arial Black" panose="020B0A04020102020204" pitchFamily="34" charset="0"/>
                </a:rPr>
                <a:t>SMART</a:t>
              </a:r>
              <a:endParaRPr lang="ru-RU" sz="1600" dirty="0">
                <a:solidFill>
                  <a:srgbClr val="809CFF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7BCB056-0BC2-DFE6-6E31-9053CE14D536}"/>
                </a:ext>
              </a:extLst>
            </p:cNvPr>
            <p:cNvSpPr txBox="1"/>
            <p:nvPr/>
          </p:nvSpPr>
          <p:spPr>
            <a:xfrm>
              <a:off x="6321386" y="534314"/>
              <a:ext cx="24224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rgbClr val="809CFF"/>
                  </a:solidFill>
                  <a:latin typeface="Arial Black" panose="020B0A04020102020204" pitchFamily="34" charset="0"/>
                </a:rPr>
                <a:t>ФОРМА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008889F-8801-18A1-6F05-7CD04D244096}"/>
                </a:ext>
              </a:extLst>
            </p:cNvPr>
            <p:cNvSpPr txBox="1"/>
            <p:nvPr/>
          </p:nvSpPr>
          <p:spPr>
            <a:xfrm>
              <a:off x="8623836" y="492327"/>
              <a:ext cx="24224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rgbClr val="5378FF"/>
                  </a:solidFill>
                  <a:latin typeface="Arial Black" panose="020B0A04020102020204" pitchFamily="34" charset="0"/>
                </a:rPr>
                <a:t>РОЛИ</a:t>
              </a:r>
            </a:p>
          </p:txBody>
        </p:sp>
      </p:grp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A303C86C-C23B-8E1B-2D9C-F0719F43A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124976"/>
              </p:ext>
            </p:extLst>
          </p:nvPr>
        </p:nvGraphicFramePr>
        <p:xfrm>
          <a:off x="4101181" y="1479252"/>
          <a:ext cx="7875838" cy="4808213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42505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3402833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4012803"/>
                    </a:ext>
                  </a:extLst>
                </a:gridCol>
              </a:tblGrid>
              <a:tr h="27575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РОЛЬ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ОБЯЗАННОСТИ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МЕСТА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ЗАРПЛАТА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632453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Директор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Определение стратегии развития. Принятие управленческих решений.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Бухгалтер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Учёт доходов и расходов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расчёты налогов и отчетов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составление планов бюджета.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55.000₽ – 65.000₽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52465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Маркетолог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Исследование рынка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потребности аудитории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стратегии продвижения.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40.000₽ – 60.000₽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07261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Сборщик заказов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Сбор заказов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качества и правильности сбора заказов.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2000₽ – 2500₽ (смена)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9132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Дизайнер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уникальных дизайнов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подготовка макетов для печати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проектирование графического контента.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45.000₽ – 55.000₽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69896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IT-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специалист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Обеспечение работы инфраструктуры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разработка и поддержка системы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решение технических проблем в ИС.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55.000₽ – 65.000₽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651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49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1413B-4A96-EF73-49F7-91A023FC3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40B93A4-20BA-AA51-9A51-1564A78E242B}"/>
              </a:ext>
            </a:extLst>
          </p:cNvPr>
          <p:cNvSpPr/>
          <p:nvPr/>
        </p:nvSpPr>
        <p:spPr>
          <a:xfrm flipV="1">
            <a:off x="11347450" y="-1"/>
            <a:ext cx="844550" cy="6858000"/>
          </a:xfrm>
          <a:prstGeom prst="rect">
            <a:avLst/>
          </a:prstGeom>
          <a:gradFill flip="none" rotWithShape="1">
            <a:gsLst>
              <a:gs pos="100000">
                <a:srgbClr val="5378FF"/>
              </a:gs>
              <a:gs pos="0">
                <a:srgbClr val="FFE5FF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Трехмерная модель 18" descr="Значок мужчины">
                <a:extLst>
                  <a:ext uri="{FF2B5EF4-FFF2-40B4-BE49-F238E27FC236}">
                    <a16:creationId xmlns:a16="http://schemas.microsoft.com/office/drawing/2014/main" id="{893AE8A4-4342-D8C2-5928-3BA6A4394D5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6402602"/>
                  </p:ext>
                </p:extLst>
              </p:nvPr>
            </p:nvGraphicFramePr>
            <p:xfrm>
              <a:off x="8652890" y="1663703"/>
              <a:ext cx="2451669" cy="636269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451669" cy="6362698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87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Трехмерная модель 18" descr="Значок мужчины">
                <a:extLst>
                  <a:ext uri="{FF2B5EF4-FFF2-40B4-BE49-F238E27FC236}">
                    <a16:creationId xmlns:a16="http://schemas.microsoft.com/office/drawing/2014/main" id="{893AE8A4-4342-D8C2-5928-3BA6A4394D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52890" y="1663703"/>
                <a:ext cx="2451669" cy="6362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Трехмерная модель 22" descr="Значок женщины">
                <a:extLst>
                  <a:ext uri="{FF2B5EF4-FFF2-40B4-BE49-F238E27FC236}">
                    <a16:creationId xmlns:a16="http://schemas.microsoft.com/office/drawing/2014/main" id="{E83B3355-0E3B-5D6E-6F2C-E0D67C7419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3694379"/>
                  </p:ext>
                </p:extLst>
              </p:nvPr>
            </p:nvGraphicFramePr>
            <p:xfrm>
              <a:off x="1087441" y="1663703"/>
              <a:ext cx="2789832" cy="613212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789832" cy="6132127"/>
                    </a:xfrm>
                    <a:prstGeom prst="rect">
                      <a:avLst/>
                    </a:prstGeom>
                  </am3d:spPr>
                  <am3d:camera>
                    <am3d:pos x="0" y="0" z="5193514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32664" d="1000000"/>
                    <am3d:preTrans dx="1" dy="-18000000" dz="403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87192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Трехмерная модель 22" descr="Значок женщины">
                <a:extLst>
                  <a:ext uri="{FF2B5EF4-FFF2-40B4-BE49-F238E27FC236}">
                    <a16:creationId xmlns:a16="http://schemas.microsoft.com/office/drawing/2014/main" id="{E83B3355-0E3B-5D6E-6F2C-E0D67C7419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7441" y="1663703"/>
                <a:ext cx="2789832" cy="6132127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9A0C458-DB46-E9F2-86CD-277476E259A2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2E488-C7E3-2FCC-655B-1FB270E2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АНАЛИЗ РЫНКА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B04A490-1F7D-BA3D-FF33-E052145371A9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АУДИТОРИЯ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974D2A9-A163-9D7F-2BE2-0CF389CC0E64}"/>
              </a:ext>
            </a:extLst>
          </p:cNvPr>
          <p:cNvGrpSpPr/>
          <p:nvPr/>
        </p:nvGrpSpPr>
        <p:grpSpPr>
          <a:xfrm>
            <a:off x="-276607" y="5299076"/>
            <a:ext cx="3790314" cy="1787524"/>
            <a:chOff x="-551814" y="5299076"/>
            <a:chExt cx="3790314" cy="1787524"/>
          </a:xfrm>
        </p:grpSpPr>
        <p:cxnSp>
          <p:nvCxnSpPr>
            <p:cNvPr id="6" name="Соединитель: уступ 5">
              <a:extLst>
                <a:ext uri="{FF2B5EF4-FFF2-40B4-BE49-F238E27FC236}">
                  <a16:creationId xmlns:a16="http://schemas.microsoft.com/office/drawing/2014/main" id="{BEA0177D-02B6-9E53-6356-190E48E069F1}"/>
                </a:ext>
              </a:extLst>
            </p:cNvPr>
            <p:cNvCxnSpPr/>
            <p:nvPr/>
          </p:nvCxnSpPr>
          <p:spPr>
            <a:xfrm>
              <a:off x="-551814" y="5299076"/>
              <a:ext cx="2520314" cy="749300"/>
            </a:xfrm>
            <a:prstGeom prst="bentConnector3">
              <a:avLst/>
            </a:prstGeom>
            <a:ln w="28575">
              <a:solidFill>
                <a:srgbClr val="809C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Соединитель: уступ 6">
              <a:extLst>
                <a:ext uri="{FF2B5EF4-FFF2-40B4-BE49-F238E27FC236}">
                  <a16:creationId xmlns:a16="http://schemas.microsoft.com/office/drawing/2014/main" id="{DA64D03B-BCBE-9B8D-3330-0F45241A9B2E}"/>
                </a:ext>
              </a:extLst>
            </p:cNvPr>
            <p:cNvCxnSpPr>
              <a:cxnSpLocks/>
            </p:cNvCxnSpPr>
            <p:nvPr/>
          </p:nvCxnSpPr>
          <p:spPr>
            <a:xfrm>
              <a:off x="1841500" y="6048376"/>
              <a:ext cx="1397000" cy="1038224"/>
            </a:xfrm>
            <a:prstGeom prst="bentConnector3">
              <a:avLst/>
            </a:prstGeom>
            <a:ln w="28575">
              <a:solidFill>
                <a:srgbClr val="809C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64B0C1DB-80B9-6E48-89D4-F4096ED39380}"/>
              </a:ext>
            </a:extLst>
          </p:cNvPr>
          <p:cNvGrpSpPr/>
          <p:nvPr/>
        </p:nvGrpSpPr>
        <p:grpSpPr>
          <a:xfrm flipH="1">
            <a:off x="9316086" y="5781676"/>
            <a:ext cx="3790314" cy="1787524"/>
            <a:chOff x="-399414" y="5451476"/>
            <a:chExt cx="3790314" cy="1787524"/>
          </a:xfrm>
        </p:grpSpPr>
        <p:cxnSp>
          <p:nvCxnSpPr>
            <p:cNvPr id="14" name="Соединитель: уступ 13">
              <a:extLst>
                <a:ext uri="{FF2B5EF4-FFF2-40B4-BE49-F238E27FC236}">
                  <a16:creationId xmlns:a16="http://schemas.microsoft.com/office/drawing/2014/main" id="{AC0CB5F8-CA82-EB6D-E0AC-3BFD2B80D08E}"/>
                </a:ext>
              </a:extLst>
            </p:cNvPr>
            <p:cNvCxnSpPr/>
            <p:nvPr/>
          </p:nvCxnSpPr>
          <p:spPr>
            <a:xfrm>
              <a:off x="-399414" y="5451476"/>
              <a:ext cx="2520314" cy="749300"/>
            </a:xfrm>
            <a:prstGeom prst="bentConnector3">
              <a:avLst/>
            </a:prstGeom>
            <a:ln w="28575">
              <a:solidFill>
                <a:srgbClr val="809C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: уступ 14">
              <a:extLst>
                <a:ext uri="{FF2B5EF4-FFF2-40B4-BE49-F238E27FC236}">
                  <a16:creationId xmlns:a16="http://schemas.microsoft.com/office/drawing/2014/main" id="{6BE96C01-5B9A-C634-410E-B1038FA00998}"/>
                </a:ext>
              </a:extLst>
            </p:cNvPr>
            <p:cNvCxnSpPr>
              <a:cxnSpLocks/>
            </p:cNvCxnSpPr>
            <p:nvPr/>
          </p:nvCxnSpPr>
          <p:spPr>
            <a:xfrm>
              <a:off x="1993900" y="6200776"/>
              <a:ext cx="1397000" cy="1038224"/>
            </a:xfrm>
            <a:prstGeom prst="bentConnector3">
              <a:avLst/>
            </a:prstGeom>
            <a:ln w="28575">
              <a:solidFill>
                <a:srgbClr val="809C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73A064-1C33-6F62-C5C6-875B0FB4F158}"/>
              </a:ext>
            </a:extLst>
          </p:cNvPr>
          <p:cNvSpPr/>
          <p:nvPr/>
        </p:nvSpPr>
        <p:spPr>
          <a:xfrm>
            <a:off x="3551871" y="0"/>
            <a:ext cx="5229229" cy="8026401"/>
          </a:xfrm>
          <a:prstGeom prst="rect">
            <a:avLst/>
          </a:prstGeom>
          <a:solidFill>
            <a:srgbClr val="5378FF">
              <a:alpha val="15000"/>
            </a:srgbClr>
          </a:solidFill>
          <a:ln>
            <a:solidFill>
              <a:srgbClr val="809CFF"/>
            </a:solidFill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342D94-9333-22B8-6162-08F277A31A6B}"/>
              </a:ext>
            </a:extLst>
          </p:cNvPr>
          <p:cNvSpPr txBox="1"/>
          <p:nvPr/>
        </p:nvSpPr>
        <p:spPr>
          <a:xfrm>
            <a:off x="4396879" y="1573766"/>
            <a:ext cx="373640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0404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ПОЛ</a:t>
            </a:r>
            <a:endParaRPr lang="en-US" sz="2000" dirty="0">
              <a:solidFill>
                <a:srgbClr val="40404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Женщины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основная доля клиентов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60%.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Мужчины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около 40%.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b="1" dirty="0">
                <a:solidFill>
                  <a:srgbClr val="40404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ВОЗРАСТ</a:t>
            </a:r>
            <a:endParaRPr lang="ru-RU" b="1" dirty="0">
              <a:solidFill>
                <a:srgbClr val="40404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Варьируется от 25 до 45 лет. Заинтересованы в качественной упаковке и персонализации подарков.</a:t>
            </a:r>
          </a:p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solidFill>
                  <a:srgbClr val="40404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СОЦИАЛЬНАЯ ГРУППА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Преимущественно средний класс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 заработной платой от 30.000 рублей.</a:t>
            </a:r>
          </a:p>
        </p:txBody>
      </p:sp>
    </p:spTree>
    <p:extLst>
      <p:ext uri="{BB962C8B-B14F-4D97-AF65-F5344CB8AC3E}">
        <p14:creationId xmlns:p14="http://schemas.microsoft.com/office/powerpoint/2010/main" val="295262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4075-C948-2710-3B49-07D80CE5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23CFE36-79D3-7BB2-4197-7DECE8864A53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AB6A7-7B78-D073-BDA8-B6796DC0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АНАЛИЗ РЫНКА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A98721B-ACC8-9661-2133-858B030FF615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5378FF"/>
                </a:solidFill>
                <a:latin typeface="Arial Black" panose="020B0A04020102020204" pitchFamily="34" charset="0"/>
              </a:rPr>
              <a:t>SWOT</a:t>
            </a:r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-АНАЛИЗ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95806-1985-8E92-24F5-AE450999C83F}"/>
              </a:ext>
            </a:extLst>
          </p:cNvPr>
          <p:cNvSpPr txBox="1"/>
          <p:nvPr/>
        </p:nvSpPr>
        <p:spPr>
          <a:xfrm>
            <a:off x="435545" y="1967704"/>
            <a:ext cx="4787900" cy="287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Качество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: используются высококачественные ингредиенты и компоненты, обеспечивая превосходный внешний вид и ценность продукта.</a:t>
            </a:r>
          </a:p>
          <a:p>
            <a:endParaRPr lang="ru-RU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Разнообразие ассортимента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: спектр наборов для разных случаев и вкусов, что привлекает широкую аудиторию.</a:t>
            </a:r>
          </a:p>
          <a:p>
            <a:endParaRPr lang="ru-RU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Доступность платформ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: распространение продукцию через ведущие российские маркетплейсы.</a:t>
            </a:r>
          </a:p>
          <a:p>
            <a:endParaRPr lang="ru-RU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Обновление ассортимента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: Регулярное введение новинок и следование актуальным трендам помогают удерживать интерес покупателей.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53E8C8C-2A95-E4C4-6285-BC1FEFE67AF5}"/>
              </a:ext>
            </a:extLst>
          </p:cNvPr>
          <p:cNvSpPr txBox="1">
            <a:spLocks/>
          </p:cNvSpPr>
          <p:nvPr/>
        </p:nvSpPr>
        <p:spPr>
          <a:xfrm>
            <a:off x="435545" y="1710718"/>
            <a:ext cx="3239308" cy="309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C28FFF"/>
                </a:solidFill>
                <a:latin typeface="Arial Black" panose="020B0A04020102020204" pitchFamily="34" charset="0"/>
              </a:rPr>
              <a:t>СИЛЬНЫЕ СТОРОНЫ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D045B-E580-864B-F97D-A687921B6FD4}"/>
              </a:ext>
            </a:extLst>
          </p:cNvPr>
          <p:cNvSpPr txBox="1"/>
          <p:nvPr/>
        </p:nvSpPr>
        <p:spPr>
          <a:xfrm>
            <a:off x="5392858" y="1967704"/>
            <a:ext cx="4787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Другие поставщики подарочных наборов на </a:t>
            </a:r>
            <a:r>
              <a:rPr lang="ru-RU" sz="1400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Wildberries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Ozon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400" b="1" dirty="0" err="1">
                <a:solidFill>
                  <a:srgbClr val="FF6D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Яндекс.Маркете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ru-RU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Местные </a:t>
            </a:r>
            <a:r>
              <a:rPr lang="ru-RU" sz="1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производители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, работающие напрямую с покупателями.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B152E27-EA83-68F0-3927-C6B09C2B9BCB}"/>
              </a:ext>
            </a:extLst>
          </p:cNvPr>
          <p:cNvSpPr txBox="1">
            <a:spLocks/>
          </p:cNvSpPr>
          <p:nvPr/>
        </p:nvSpPr>
        <p:spPr>
          <a:xfrm>
            <a:off x="5392858" y="1710718"/>
            <a:ext cx="3239308" cy="309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C28FFF"/>
                </a:solidFill>
                <a:latin typeface="Arial Black" panose="020B0A04020102020204" pitchFamily="34" charset="0"/>
              </a:rPr>
              <a:t>КОНКУРЕНТЫ</a:t>
            </a:r>
          </a:p>
        </p:txBody>
      </p:sp>
      <p:pic>
        <p:nvPicPr>
          <p:cNvPr id="9" name="Рисунок 8" descr="Изображение выглядит как текст, меню, Брошюра, е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309C83-BE6F-DB98-29E6-69D79E91C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778" y="2983456"/>
            <a:ext cx="3206388" cy="2870016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бутыл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4E6285-65B4-5CE5-CF2B-F0B773B27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086" y="2983456"/>
            <a:ext cx="3312547" cy="3003454"/>
          </a:xfrm>
          <a:prstGeom prst="rect">
            <a:avLst/>
          </a:prstGeom>
        </p:spPr>
      </p:pic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70412EAD-7BBB-9B88-CE7F-20F7928B82DB}"/>
              </a:ext>
            </a:extLst>
          </p:cNvPr>
          <p:cNvCxnSpPr/>
          <p:nvPr/>
        </p:nvCxnSpPr>
        <p:spPr>
          <a:xfrm>
            <a:off x="-221471" y="5147282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F5AB3F7B-1D42-FDA6-A142-E536E1F309C4}"/>
              </a:ext>
            </a:extLst>
          </p:cNvPr>
          <p:cNvCxnSpPr/>
          <p:nvPr/>
        </p:nvCxnSpPr>
        <p:spPr>
          <a:xfrm>
            <a:off x="1477933" y="6234210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8B97D506-BFA0-46A3-D3C9-6A76ADCBA7B9}"/>
              </a:ext>
            </a:extLst>
          </p:cNvPr>
          <p:cNvCxnSpPr/>
          <p:nvPr/>
        </p:nvCxnSpPr>
        <p:spPr>
          <a:xfrm>
            <a:off x="10563082" y="666751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FE89DA26-FACD-9A19-7BAA-76780C382328}"/>
              </a:ext>
            </a:extLst>
          </p:cNvPr>
          <p:cNvCxnSpPr/>
          <p:nvPr/>
        </p:nvCxnSpPr>
        <p:spPr>
          <a:xfrm>
            <a:off x="8863678" y="-420153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13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28BB0-8E6F-C6FC-3541-7DC2909C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3FB532CB-36C6-A115-8042-788ACA67BA87}"/>
              </a:ext>
            </a:extLst>
          </p:cNvPr>
          <p:cNvGrpSpPr/>
          <p:nvPr/>
        </p:nvGrpSpPr>
        <p:grpSpPr>
          <a:xfrm>
            <a:off x="1034407" y="2322117"/>
            <a:ext cx="6821917" cy="3211574"/>
            <a:chOff x="1034407" y="2322117"/>
            <a:chExt cx="6821917" cy="3211574"/>
          </a:xfrm>
        </p:grpSpPr>
        <p:cxnSp>
          <p:nvCxnSpPr>
            <p:cNvPr id="19" name="Соединитель: уступ 18">
              <a:extLst>
                <a:ext uri="{FF2B5EF4-FFF2-40B4-BE49-F238E27FC236}">
                  <a16:creationId xmlns:a16="http://schemas.microsoft.com/office/drawing/2014/main" id="{46B92376-13FD-87DD-1B80-C5155532AEE0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4335678" y="3071417"/>
              <a:ext cx="3520646" cy="565947"/>
            </a:xfrm>
            <a:prstGeom prst="bentConnector3">
              <a:avLst/>
            </a:prstGeom>
            <a:ln w="19050">
              <a:solidFill>
                <a:srgbClr val="D5B3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Соединитель: уступ 20">
              <a:extLst>
                <a:ext uri="{FF2B5EF4-FFF2-40B4-BE49-F238E27FC236}">
                  <a16:creationId xmlns:a16="http://schemas.microsoft.com/office/drawing/2014/main" id="{C5C695E1-709B-EB19-F429-8D95D4B412F7}"/>
                </a:ext>
              </a:extLst>
            </p:cNvPr>
            <p:cNvCxnSpPr>
              <a:cxnSpLocks/>
              <a:stCxn id="15" idx="6"/>
            </p:cNvCxnSpPr>
            <p:nvPr/>
          </p:nvCxnSpPr>
          <p:spPr>
            <a:xfrm>
              <a:off x="5084978" y="4784391"/>
              <a:ext cx="2022046" cy="585213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D5B3F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2403360D-A0C1-137D-CD25-538E5D93ADCF}"/>
                </a:ext>
              </a:extLst>
            </p:cNvPr>
            <p:cNvSpPr/>
            <p:nvPr/>
          </p:nvSpPr>
          <p:spPr>
            <a:xfrm>
              <a:off x="1034407" y="2322117"/>
              <a:ext cx="1498600" cy="1498600"/>
            </a:xfrm>
            <a:prstGeom prst="ellipse">
              <a:avLst/>
            </a:prstGeom>
            <a:solidFill>
              <a:srgbClr val="D5B3FF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5B4B6AD-06F5-1749-39DC-6960F60D05C1}"/>
                </a:ext>
              </a:extLst>
            </p:cNvPr>
            <p:cNvSpPr/>
            <p:nvPr/>
          </p:nvSpPr>
          <p:spPr>
            <a:xfrm>
              <a:off x="2837078" y="2322117"/>
              <a:ext cx="1498600" cy="1498600"/>
            </a:xfrm>
            <a:prstGeom prst="ellipse">
              <a:avLst/>
            </a:prstGeom>
            <a:solidFill>
              <a:srgbClr val="D5B3FF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A6CC04CF-C629-D92C-35DE-1342E8B13FDF}"/>
                </a:ext>
              </a:extLst>
            </p:cNvPr>
            <p:cNvSpPr/>
            <p:nvPr/>
          </p:nvSpPr>
          <p:spPr>
            <a:xfrm>
              <a:off x="3586378" y="4035091"/>
              <a:ext cx="1498600" cy="1498600"/>
            </a:xfrm>
            <a:prstGeom prst="ellipse">
              <a:avLst/>
            </a:prstGeom>
            <a:solidFill>
              <a:srgbClr val="D5B3FF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FBC6CEA3-4679-DF18-9337-C5BDC5C4D52A}"/>
                </a:ext>
              </a:extLst>
            </p:cNvPr>
            <p:cNvSpPr/>
            <p:nvPr/>
          </p:nvSpPr>
          <p:spPr>
            <a:xfrm>
              <a:off x="1783707" y="4035091"/>
              <a:ext cx="1498600" cy="1498600"/>
            </a:xfrm>
            <a:prstGeom prst="ellipse">
              <a:avLst/>
            </a:prstGeom>
            <a:solidFill>
              <a:srgbClr val="D5B3FF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C1C3BF4-8B06-EF9C-59F9-3AE179775AB4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9D69F-A231-98B1-5D92-C2391B05E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ТОВАРА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7863A56-35E5-D4AF-2776-FFB331FD1E40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БОКС «СТАНДАРТНЫЙ»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B729CEA-E4FD-76CF-AA97-A3492145873C}"/>
              </a:ext>
            </a:extLst>
          </p:cNvPr>
          <p:cNvSpPr/>
          <p:nvPr/>
        </p:nvSpPr>
        <p:spPr>
          <a:xfrm>
            <a:off x="5973255" y="435210"/>
            <a:ext cx="6656439" cy="6339215"/>
          </a:xfrm>
          <a:prstGeom prst="ellipse">
            <a:avLst/>
          </a:prstGeom>
          <a:solidFill>
            <a:srgbClr val="5378FF">
              <a:alpha val="20000"/>
            </a:srgbClr>
          </a:solidFill>
          <a:ln>
            <a:solidFill>
              <a:srgbClr val="404040"/>
            </a:solidFill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46123D6-C178-1EEF-2EDC-ED7D74F5A18E}"/>
              </a:ext>
            </a:extLst>
          </p:cNvPr>
          <p:cNvSpPr/>
          <p:nvPr/>
        </p:nvSpPr>
        <p:spPr>
          <a:xfrm rot="3256761">
            <a:off x="6875004" y="1540363"/>
            <a:ext cx="4557656" cy="4557656"/>
          </a:xfrm>
          <a:custGeom>
            <a:avLst/>
            <a:gdLst>
              <a:gd name="csX0" fmla="*/ 0 w 4557656"/>
              <a:gd name="csY0" fmla="*/ 0 h 4557656"/>
              <a:gd name="csX1" fmla="*/ 4557656 w 4557656"/>
              <a:gd name="csY1" fmla="*/ 0 h 4557656"/>
              <a:gd name="csX2" fmla="*/ 4557656 w 4557656"/>
              <a:gd name="csY2" fmla="*/ 4557656 h 4557656"/>
              <a:gd name="csX3" fmla="*/ 0 w 4557656"/>
              <a:gd name="csY3" fmla="*/ 4557656 h 4557656"/>
              <a:gd name="csX4" fmla="*/ 0 w 4557656"/>
              <a:gd name="csY4" fmla="*/ 0 h 4557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7656" h="4557656" extrusionOk="0">
                <a:moveTo>
                  <a:pt x="0" y="0"/>
                </a:moveTo>
                <a:cubicBezTo>
                  <a:pt x="1105224" y="55493"/>
                  <a:pt x="3456290" y="-144892"/>
                  <a:pt x="4557656" y="0"/>
                </a:cubicBezTo>
                <a:cubicBezTo>
                  <a:pt x="4460331" y="735003"/>
                  <a:pt x="4491489" y="2673765"/>
                  <a:pt x="4557656" y="4557656"/>
                </a:cubicBezTo>
                <a:cubicBezTo>
                  <a:pt x="2649025" y="4593770"/>
                  <a:pt x="1277300" y="4619703"/>
                  <a:pt x="0" y="4557656"/>
                </a:cubicBezTo>
                <a:cubicBezTo>
                  <a:pt x="35881" y="2705156"/>
                  <a:pt x="86917" y="7218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809CFF"/>
            </a:solidFill>
            <a:extLst>
              <a:ext uri="{C807C97D-BFC1-408E-A445-0C87EB9F89A2}">
                <ask:lineSketchStyleProps xmlns:ask="http://schemas.microsoft.com/office/drawing/2018/sketchyshapes" sd="8667486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 descr="Изображение выглядит как коробк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4788AC-9F87-4A41-6DE4-7BFCD3F97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4" t="23893" r="12231"/>
          <a:stretch>
            <a:fillRect/>
          </a:stretch>
        </p:blipFill>
        <p:spPr>
          <a:xfrm rot="188376" flipH="1">
            <a:off x="6750665" y="870684"/>
            <a:ext cx="4247536" cy="5936923"/>
          </a:xfrm>
          <a:prstGeom prst="rect">
            <a:avLst/>
          </a:prstGeom>
        </p:spPr>
      </p:pic>
      <p:pic>
        <p:nvPicPr>
          <p:cNvPr id="7" name="Рисунок 6" descr="Изображение выглядит как кружка, кофейная чашка, Сосуды для напитков, посу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49EDFB-EB72-2226-6D1B-D862C8954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51" b="89796" l="9636" r="92077">
                        <a14:foregroundMark x1="85653" y1="23129" x2="90792" y2="35828"/>
                        <a14:foregroundMark x1="90792" y1="35828" x2="90578" y2="56236"/>
                        <a14:foregroundMark x1="90578" y1="56236" x2="86081" y2="65306"/>
                        <a14:foregroundMark x1="89079" y1="25397" x2="92077" y2="38095"/>
                        <a14:foregroundMark x1="88865" y1="27211" x2="90364" y2="39002"/>
                        <a14:foregroundMark x1="89722" y1="26984" x2="91863" y2="369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26126">
            <a:off x="1147880" y="2307876"/>
            <a:ext cx="1586953" cy="149860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книга,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343D99-8C56-C066-F963-CC67D63251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10766">
            <a:off x="3132340" y="3982165"/>
            <a:ext cx="2406676" cy="1604451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еда, конфета, кондитерские изделия, Плитки кака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CDDA61-E923-272F-DF80-AE53C01C74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33" b="89907" l="5085" r="91988">
                        <a14:foregroundMark x1="7757" y1="38318" x2="12173" y2="45421"/>
                        <a14:foregroundMark x1="5085" y1="34019" x2="5327" y2="34408"/>
                        <a14:foregroundMark x1="8475" y1="32710" x2="11248" y2="45421"/>
                        <a14:foregroundMark x1="37596" y1="90093" x2="47458" y2="88037"/>
                        <a14:foregroundMark x1="89676" y1="48785" x2="91988" y2="61869"/>
                        <a14:foregroundMark x1="91988" y1="61869" x2="91834" y2="62430"/>
                        <a14:foregroundMark x1="55470" y1="11215" x2="56394" y2="9533"/>
                        <a14:foregroundMark x1="7550" y1="30093" x2="17257" y2="26542"/>
                        <a14:foregroundMark x1="17257" y1="26542" x2="7550" y2="29346"/>
                        <a14:backgroundMark x1="4931" y1="33832" x2="4622" y2="40187"/>
                        <a14:backgroundMark x1="5239" y1="35514" x2="5085" y2="39626"/>
                        <a14:backgroundMark x1="5393" y1="34393" x2="5855" y2="371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12134">
            <a:off x="2741912" y="2370657"/>
            <a:ext cx="1700161" cy="1401519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Легкая закуска, печенье, Печенье и крекеры, выпе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73B12A-245F-88B4-766A-B1AD19BF27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65" b="90957" l="5585" r="95637">
                        <a14:foregroundMark x1="42059" y1="69565" x2="80803" y2="59826"/>
                        <a14:foregroundMark x1="89180" y1="54609" x2="50611" y2="69391"/>
                        <a14:foregroundMark x1="31414" y1="66435" x2="34380" y2="75826"/>
                        <a14:foregroundMark x1="25480" y1="91130" x2="35428" y2="91130"/>
                        <a14:foregroundMark x1="13613" y1="63130" x2="5585" y2="43826"/>
                        <a14:foregroundMark x1="5585" y1="43826" x2="13438" y2="36522"/>
                        <a14:foregroundMark x1="62154" y1="23159" x2="63525" y2="22783"/>
                        <a14:foregroundMark x1="13438" y1="36522" x2="56448" y2="24724"/>
                        <a14:foregroundMark x1="63525" y1="22783" x2="62042" y2="23000"/>
                        <a14:foregroundMark x1="12740" y1="33913" x2="44798" y2="26152"/>
                        <a14:foregroundMark x1="54603" y1="24997" x2="53229" y2="25739"/>
                        <a14:foregroundMark x1="86038" y1="42087" x2="92321" y2="56348"/>
                        <a14:foregroundMark x1="92321" y1="56348" x2="91099" y2="65565"/>
                        <a14:foregroundMark x1="91099" y1="65565" x2="94885" y2="44671"/>
                        <a14:backgroundMark x1="93717" y1="39826" x2="96161" y2="44000"/>
                        <a14:backgroundMark x1="59511" y1="21217" x2="75044" y2="16000"/>
                        <a14:backgroundMark x1="75044" y1="16000" x2="75567" y2="16000"/>
                        <a14:backgroundMark x1="60908" y1="21391" x2="43281" y2="24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190737">
            <a:off x="1779807" y="3923018"/>
            <a:ext cx="1502212" cy="150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1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63083-2A20-D522-D88E-E3DE7497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F60AE87-C54C-1FD1-E4E1-0FAFB4C275BF}"/>
              </a:ext>
            </a:extLst>
          </p:cNvPr>
          <p:cNvGrpSpPr/>
          <p:nvPr/>
        </p:nvGrpSpPr>
        <p:grpSpPr>
          <a:xfrm>
            <a:off x="1034407" y="2322117"/>
            <a:ext cx="6821917" cy="3211574"/>
            <a:chOff x="1034407" y="2322117"/>
            <a:chExt cx="6821917" cy="3211574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7" name="Соединитель: уступ 6">
              <a:extLst>
                <a:ext uri="{FF2B5EF4-FFF2-40B4-BE49-F238E27FC236}">
                  <a16:creationId xmlns:a16="http://schemas.microsoft.com/office/drawing/2014/main" id="{F69D6105-4E35-F266-C146-8AD60AF7E479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4335678" y="3071417"/>
              <a:ext cx="3520646" cy="565947"/>
            </a:xfrm>
            <a:prstGeom prst="bentConnector3">
              <a:avLst/>
            </a:prstGeom>
            <a:grp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Соединитель: уступ 7">
              <a:extLst>
                <a:ext uri="{FF2B5EF4-FFF2-40B4-BE49-F238E27FC236}">
                  <a16:creationId xmlns:a16="http://schemas.microsoft.com/office/drawing/2014/main" id="{77E91D88-0010-B059-8E22-3786BEE96B0B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>
              <a:off x="5084978" y="4784391"/>
              <a:ext cx="2022046" cy="585213"/>
            </a:xfrm>
            <a:prstGeom prst="bentConnector3">
              <a:avLst>
                <a:gd name="adj1" fmla="val 50000"/>
              </a:avLst>
            </a:prstGeom>
            <a:grp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9C69AEB7-1558-418F-828A-32F5EB4C12FA}"/>
                </a:ext>
              </a:extLst>
            </p:cNvPr>
            <p:cNvSpPr/>
            <p:nvPr/>
          </p:nvSpPr>
          <p:spPr>
            <a:xfrm>
              <a:off x="1034407" y="2322117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B3199919-038D-D3C8-35F4-597CC366497B}"/>
                </a:ext>
              </a:extLst>
            </p:cNvPr>
            <p:cNvSpPr/>
            <p:nvPr/>
          </p:nvSpPr>
          <p:spPr>
            <a:xfrm>
              <a:off x="2837078" y="2322117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B8174F0-C680-C8C8-C2A9-FC6CAE3713A8}"/>
                </a:ext>
              </a:extLst>
            </p:cNvPr>
            <p:cNvSpPr/>
            <p:nvPr/>
          </p:nvSpPr>
          <p:spPr>
            <a:xfrm>
              <a:off x="3586378" y="4035091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ED941954-3BA6-C5CD-0AF2-C35B4A5C036F}"/>
                </a:ext>
              </a:extLst>
            </p:cNvPr>
            <p:cNvSpPr/>
            <p:nvPr/>
          </p:nvSpPr>
          <p:spPr>
            <a:xfrm>
              <a:off x="1783707" y="4035091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C016E30-0132-DE05-7379-5CBF1C539C4E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1ECD4-B3E2-B62D-0CF6-B156E0A4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ТОВАРА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54981AC-FC66-6090-0541-083955FCD918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БОКС «ЦВЕТОЧНЫЙ»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7A5BC30-271A-BAE3-0877-77EDCB8B2147}"/>
              </a:ext>
            </a:extLst>
          </p:cNvPr>
          <p:cNvSpPr/>
          <p:nvPr/>
        </p:nvSpPr>
        <p:spPr>
          <a:xfrm>
            <a:off x="5973255" y="435210"/>
            <a:ext cx="6656439" cy="6339215"/>
          </a:xfrm>
          <a:prstGeom prst="ellipse">
            <a:avLst/>
          </a:prstGeom>
          <a:solidFill>
            <a:srgbClr val="C28FFF">
              <a:alpha val="20000"/>
            </a:srgbClr>
          </a:solidFill>
          <a:ln>
            <a:solidFill>
              <a:srgbClr val="404040"/>
            </a:solidFill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718618A-F2BB-472C-A6F8-FF79F0F09593}"/>
              </a:ext>
            </a:extLst>
          </p:cNvPr>
          <p:cNvSpPr/>
          <p:nvPr/>
        </p:nvSpPr>
        <p:spPr>
          <a:xfrm rot="3256761">
            <a:off x="6875004" y="1540363"/>
            <a:ext cx="4557656" cy="4557656"/>
          </a:xfrm>
          <a:custGeom>
            <a:avLst/>
            <a:gdLst>
              <a:gd name="csX0" fmla="*/ 0 w 4557656"/>
              <a:gd name="csY0" fmla="*/ 0 h 4557656"/>
              <a:gd name="csX1" fmla="*/ 4557656 w 4557656"/>
              <a:gd name="csY1" fmla="*/ 0 h 4557656"/>
              <a:gd name="csX2" fmla="*/ 4557656 w 4557656"/>
              <a:gd name="csY2" fmla="*/ 4557656 h 4557656"/>
              <a:gd name="csX3" fmla="*/ 0 w 4557656"/>
              <a:gd name="csY3" fmla="*/ 4557656 h 4557656"/>
              <a:gd name="csX4" fmla="*/ 0 w 4557656"/>
              <a:gd name="csY4" fmla="*/ 0 h 4557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7656" h="4557656" extrusionOk="0">
                <a:moveTo>
                  <a:pt x="0" y="0"/>
                </a:moveTo>
                <a:cubicBezTo>
                  <a:pt x="1105224" y="55493"/>
                  <a:pt x="3456290" y="-144892"/>
                  <a:pt x="4557656" y="0"/>
                </a:cubicBezTo>
                <a:cubicBezTo>
                  <a:pt x="4460331" y="735003"/>
                  <a:pt x="4491489" y="2673765"/>
                  <a:pt x="4557656" y="4557656"/>
                </a:cubicBezTo>
                <a:cubicBezTo>
                  <a:pt x="2649025" y="4593770"/>
                  <a:pt x="1277300" y="4619703"/>
                  <a:pt x="0" y="4557656"/>
                </a:cubicBezTo>
                <a:cubicBezTo>
                  <a:pt x="35881" y="2705156"/>
                  <a:pt x="86917" y="7218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404040">
                <a:alpha val="59000"/>
              </a:srgbClr>
            </a:solidFill>
            <a:extLst>
              <a:ext uri="{C807C97D-BFC1-408E-A445-0C87EB9F89A2}">
                <ask:lineSketchStyleProps xmlns:ask="http://schemas.microsoft.com/office/drawing/2018/sketchyshapes" sd="8667486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коробка, контейнер, Свадебные сувенир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250123-3AEE-05D3-B89B-498496EF2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490" y1="16296" x2="14583" y2="17667"/>
                        <a14:foregroundMark x1="15046" y1="16500" x2="14931" y2="17750"/>
                        <a14:backgroundMark x1="75347" y1="12833" x2="73611" y2="21333"/>
                        <a14:backgroundMark x1="73611" y1="12333" x2="76157" y2="16333"/>
                        <a14:backgroundMark x1="74306" y1="12000" x2="75463" y2="13917"/>
                        <a14:backgroundMark x1="72685" y1="11500" x2="60532" y2="9667"/>
                        <a14:backgroundMark x1="60532" y1="9667" x2="60532" y2="9667"/>
                        <a14:backgroundMark x1="62731" y1="10417" x2="48032" y2="11417"/>
                        <a14:backgroundMark x1="63889" y1="9667" x2="52315" y2="11583"/>
                        <a14:backgroundMark x1="33565" y1="10833" x2="15278" y2="13083"/>
                        <a14:backgroundMark x1="13868" y1="17699" x2="9375" y2="32417"/>
                        <a14:backgroundMark x1="15278" y1="13083" x2="14531" y2="15529"/>
                        <a14:backgroundMark x1="68634" y1="10500" x2="10995" y2="15417"/>
                        <a14:backgroundMark x1="69444" y1="11667" x2="33565" y2="130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835" flipH="1">
            <a:off x="6165775" y="-111828"/>
            <a:ext cx="5493550" cy="7629931"/>
          </a:xfrm>
          <a:prstGeom prst="rect">
            <a:avLst/>
          </a:prstGeom>
        </p:spPr>
      </p:pic>
      <p:pic>
        <p:nvPicPr>
          <p:cNvPr id="9" name="Рисунок 8" descr="Изображение выглядит как цветок, Цветочная композиция, Срезанные цветы, Украшение из цветов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9AC484-B2C7-8310-AB77-45AA9A9329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4583">
            <a:off x="1103566" y="1966751"/>
            <a:ext cx="1577083" cy="206834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одежда, Человеческое лицо, багет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75C0C5-A72B-8FCF-4BF5-2CBEA2F344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678" b="95202" l="1335" r="96291">
                        <a14:foregroundMark x1="19881" y1="13244" x2="64540" y2="16123"/>
                        <a14:foregroundMark x1="64540" y1="16123" x2="69436" y2="18042"/>
                        <a14:foregroundMark x1="64985" y1="20537" x2="40356" y2="27063"/>
                        <a14:foregroundMark x1="57864" y1="15163" x2="94362" y2="8829"/>
                        <a14:foregroundMark x1="93175" y1="10365" x2="90356" y2="86180"/>
                        <a14:foregroundMark x1="90356" y1="86180" x2="83086" y2="89635"/>
                        <a14:foregroundMark x1="83086" y1="89635" x2="4685" y2="90766"/>
                        <a14:foregroundMark x1="3409" y1="74079" x2="3858" y2="22457"/>
                        <a14:foregroundMark x1="3858" y1="22457" x2="9496" y2="15547"/>
                        <a14:foregroundMark x1="9496" y1="15547" x2="21217" y2="14587"/>
                        <a14:foregroundMark x1="21217" y1="14587" x2="27003" y2="14971"/>
                        <a14:foregroundMark x1="9941" y1="95969" x2="6083" y2="16315"/>
                        <a14:foregroundMark x1="5341" y1="16891" x2="5341" y2="16891"/>
                        <a14:foregroundMark x1="2671" y1="12860" x2="9941" y2="88676"/>
                        <a14:foregroundMark x1="9941" y1="88676" x2="28932" y2="93090"/>
                        <a14:foregroundMark x1="28932" y1="93090" x2="64243" y2="87524"/>
                        <a14:foregroundMark x1="64243" y1="87524" x2="28190" y2="89251"/>
                        <a14:foregroundMark x1="28190" y1="89251" x2="94510" y2="83301"/>
                        <a14:foregroundMark x1="94510" y1="83301" x2="94065" y2="73321"/>
                        <a14:foregroundMark x1="94065" y1="73321" x2="93472" y2="72553"/>
                        <a14:foregroundMark x1="94510" y1="78695" x2="96291" y2="88868"/>
                        <a14:foregroundMark x1="96291" y1="88868" x2="95401" y2="89443"/>
                        <a14:foregroundMark x1="92285" y1="91171" x2="9496" y2="95202"/>
                        <a14:foregroundMark x1="1335" y1="13436" x2="2374" y2="23992"/>
                        <a14:backgroundMark x1="1335" y1="73704" x2="0" y2="85988"/>
                        <a14:backgroundMark x1="1335" y1="94050" x2="1187" y2="84453"/>
                        <a14:backgroundMark x1="2819" y1="77735" x2="2077" y2="923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60700">
            <a:off x="2771487" y="2441507"/>
            <a:ext cx="1629783" cy="1259817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Модный аксессуар, ювелирные украшения, м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D4A68F-0761-DEA6-51D0-56C48895F6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0178" y1="43946" x2="7101" y2="84753"/>
                        <a14:backgroundMark x1="86391" y1="33632" x2="59172" y2="95516"/>
                        <a14:backgroundMark x1="82249" y1="32735" x2="80473" y2="39462"/>
                        <a14:backgroundMark x1="27811" y1="59641" x2="19527" y2="73094"/>
                        <a14:backgroundMark x1="17751" y1="78027" x2="20710" y2="91480"/>
                        <a14:backgroundMark x1="75148" y1="49776" x2="53846" y2="88789"/>
                        <a14:backgroundMark x1="53254" y1="90583" x2="76923" y2="408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383744" flipH="1">
            <a:off x="1685590" y="3753395"/>
            <a:ext cx="1668156" cy="2201176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воск, красный, свеч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3DE0ED-FA8A-8083-2004-A3DA0D8BDEC1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981" b="94953" l="8454" r="94433">
                        <a14:foregroundMark x1="9485" y1="33458" x2="11959" y2="85234"/>
                        <a14:foregroundMark x1="11959" y1="85234" x2="73814" y2="91589"/>
                        <a14:foregroundMark x1="73814" y1="91589" x2="86186" y2="85047"/>
                        <a14:foregroundMark x1="86186" y1="85047" x2="93814" y2="40374"/>
                        <a14:foregroundMark x1="93814" y1="40374" x2="92577" y2="28224"/>
                        <a14:foregroundMark x1="92577" y1="28224" x2="70309" y2="19626"/>
                        <a14:foregroundMark x1="70309" y1="19626" x2="22680" y2="22617"/>
                        <a14:foregroundMark x1="22680" y1="22617" x2="8454" y2="28785"/>
                        <a14:foregroundMark x1="8454" y1="28785" x2="21649" y2="38505"/>
                        <a14:foregroundMark x1="21649" y1="38505" x2="47423" y2="25421"/>
                        <a14:foregroundMark x1="47423" y1="25421" x2="62680" y2="32336"/>
                        <a14:foregroundMark x1="62680" y1="32336" x2="56289" y2="30467"/>
                        <a14:foregroundMark x1="89485" y1="24112" x2="95052" y2="35514"/>
                        <a14:foregroundMark x1="95052" y1="35514" x2="91134" y2="85794"/>
                        <a14:foregroundMark x1="91134" y1="85794" x2="74433" y2="91589"/>
                        <a14:foregroundMark x1="74433" y1="91589" x2="46186" y2="93271"/>
                        <a14:foregroundMark x1="46186" y1="93271" x2="19588" y2="88224"/>
                        <a14:foregroundMark x1="19588" y1="88224" x2="15670" y2="85794"/>
                        <a14:foregroundMark x1="93196" y1="24486" x2="92165" y2="52710"/>
                        <a14:foregroundMark x1="86392" y1="20561" x2="94021" y2="27477"/>
                        <a14:foregroundMark x1="89278" y1="22243" x2="94845" y2="26355"/>
                        <a14:foregroundMark x1="61443" y1="95140" x2="47010" y2="93645"/>
                        <a14:foregroundMark x1="50722" y1="17196" x2="51340" y2="5981"/>
                        <a14:foregroundMark x1="46804" y1="8411" x2="45361" y2="20374"/>
                        <a14:foregroundMark x1="49485" y1="10093" x2="55876" y2="16822"/>
                        <a14:foregroundMark x1="56907" y1="16262" x2="53608" y2="7477"/>
                        <a14:foregroundMark x1="54021" y1="8224" x2="54021" y2="185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9145" y="4198306"/>
            <a:ext cx="973065" cy="107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2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925B-8B1A-BE69-C111-EB9E6009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36D2024E-0520-AAE3-375C-4C1126B2CAED}"/>
              </a:ext>
            </a:extLst>
          </p:cNvPr>
          <p:cNvGrpSpPr/>
          <p:nvPr/>
        </p:nvGrpSpPr>
        <p:grpSpPr>
          <a:xfrm>
            <a:off x="1034407" y="2322117"/>
            <a:ext cx="6821917" cy="3211574"/>
            <a:chOff x="1034407" y="2322117"/>
            <a:chExt cx="6821917" cy="3211574"/>
          </a:xfrm>
          <a:solidFill>
            <a:srgbClr val="FF6D6D">
              <a:alpha val="36078"/>
            </a:srgbClr>
          </a:solidFill>
        </p:grpSpPr>
        <p:cxnSp>
          <p:nvCxnSpPr>
            <p:cNvPr id="8" name="Соединитель: уступ 7">
              <a:extLst>
                <a:ext uri="{FF2B5EF4-FFF2-40B4-BE49-F238E27FC236}">
                  <a16:creationId xmlns:a16="http://schemas.microsoft.com/office/drawing/2014/main" id="{3BC880C2-28CD-7BCF-4AA1-EEE1CA0069EA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4335678" y="3071417"/>
              <a:ext cx="3520646" cy="565947"/>
            </a:xfrm>
            <a:prstGeom prst="bentConnector3">
              <a:avLst/>
            </a:prstGeom>
            <a:grpFill/>
            <a:ln w="19050">
              <a:solidFill>
                <a:srgbClr val="FF6D6D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Соединитель: уступ 8">
              <a:extLst>
                <a:ext uri="{FF2B5EF4-FFF2-40B4-BE49-F238E27FC236}">
                  <a16:creationId xmlns:a16="http://schemas.microsoft.com/office/drawing/2014/main" id="{4B936F2B-EB15-7540-E906-9B06666203BD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>
              <a:off x="5084978" y="4784391"/>
              <a:ext cx="2022046" cy="585213"/>
            </a:xfrm>
            <a:prstGeom prst="bentConnector3">
              <a:avLst>
                <a:gd name="adj1" fmla="val 50000"/>
              </a:avLst>
            </a:prstGeom>
            <a:grpFill/>
            <a:ln w="19050">
              <a:solidFill>
                <a:srgbClr val="FF6D6D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1423BDF-EE37-CA55-570F-F5D5F1C52E0A}"/>
                </a:ext>
              </a:extLst>
            </p:cNvPr>
            <p:cNvSpPr/>
            <p:nvPr/>
          </p:nvSpPr>
          <p:spPr>
            <a:xfrm>
              <a:off x="1034407" y="2322117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E37E6DB-37C1-88F9-6549-42381819CACB}"/>
                </a:ext>
              </a:extLst>
            </p:cNvPr>
            <p:cNvSpPr/>
            <p:nvPr/>
          </p:nvSpPr>
          <p:spPr>
            <a:xfrm>
              <a:off x="2837078" y="2322117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791DA5C-C94A-B2CB-5962-631C5438B2AA}"/>
                </a:ext>
              </a:extLst>
            </p:cNvPr>
            <p:cNvSpPr/>
            <p:nvPr/>
          </p:nvSpPr>
          <p:spPr>
            <a:xfrm>
              <a:off x="3586378" y="4035091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F9AA189B-68A9-9443-C8A4-B20872D22861}"/>
                </a:ext>
              </a:extLst>
            </p:cNvPr>
            <p:cNvSpPr/>
            <p:nvPr/>
          </p:nvSpPr>
          <p:spPr>
            <a:xfrm>
              <a:off x="1783707" y="4035091"/>
              <a:ext cx="1498600" cy="149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4913D08-12A1-5C06-8D49-7038D8B694C2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44128-F1FC-5D3B-03D6-931270A3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ТОВАРА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4646698-9E39-5BEB-0A89-3F0E89F23604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БОКС «ПАМЯТНЫЙ»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C1742E7-C535-E326-64B4-1C03D034D04E}"/>
              </a:ext>
            </a:extLst>
          </p:cNvPr>
          <p:cNvSpPr/>
          <p:nvPr/>
        </p:nvSpPr>
        <p:spPr>
          <a:xfrm>
            <a:off x="5973255" y="435210"/>
            <a:ext cx="6656439" cy="6339215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solidFill>
              <a:srgbClr val="404040"/>
            </a:solidFill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76FBB8-69D8-4C9B-5690-8C19F95C2F67}"/>
              </a:ext>
            </a:extLst>
          </p:cNvPr>
          <p:cNvSpPr/>
          <p:nvPr/>
        </p:nvSpPr>
        <p:spPr>
          <a:xfrm rot="3256761">
            <a:off x="6916199" y="1526718"/>
            <a:ext cx="4557656" cy="4557656"/>
          </a:xfrm>
          <a:custGeom>
            <a:avLst/>
            <a:gdLst>
              <a:gd name="csX0" fmla="*/ 0 w 4557656"/>
              <a:gd name="csY0" fmla="*/ 0 h 4557656"/>
              <a:gd name="csX1" fmla="*/ 4557656 w 4557656"/>
              <a:gd name="csY1" fmla="*/ 0 h 4557656"/>
              <a:gd name="csX2" fmla="*/ 4557656 w 4557656"/>
              <a:gd name="csY2" fmla="*/ 4557656 h 4557656"/>
              <a:gd name="csX3" fmla="*/ 0 w 4557656"/>
              <a:gd name="csY3" fmla="*/ 4557656 h 4557656"/>
              <a:gd name="csX4" fmla="*/ 0 w 4557656"/>
              <a:gd name="csY4" fmla="*/ 0 h 4557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7656" h="4557656" extrusionOk="0">
                <a:moveTo>
                  <a:pt x="0" y="0"/>
                </a:moveTo>
                <a:cubicBezTo>
                  <a:pt x="1105224" y="55493"/>
                  <a:pt x="3456290" y="-144892"/>
                  <a:pt x="4557656" y="0"/>
                </a:cubicBezTo>
                <a:cubicBezTo>
                  <a:pt x="4460331" y="735003"/>
                  <a:pt x="4491489" y="2673765"/>
                  <a:pt x="4557656" y="4557656"/>
                </a:cubicBezTo>
                <a:cubicBezTo>
                  <a:pt x="2649025" y="4593770"/>
                  <a:pt x="1277300" y="4619703"/>
                  <a:pt x="0" y="4557656"/>
                </a:cubicBezTo>
                <a:cubicBezTo>
                  <a:pt x="35881" y="2705156"/>
                  <a:pt x="86917" y="7218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C00000">
                <a:alpha val="59000"/>
              </a:srgbClr>
            </a:solidFill>
            <a:extLst>
              <a:ext uri="{C807C97D-BFC1-408E-A445-0C87EB9F89A2}">
                <ask:lineSketchStyleProps xmlns:ask="http://schemas.microsoft.com/office/drawing/2018/sketchyshapes" sd="8667486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Упаковка и маркировка, Подарок, коробка, контейн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C09648-8756-1303-6557-83E4B648C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80" flipH="1">
            <a:off x="6163963" y="-742261"/>
            <a:ext cx="5430735" cy="7542688"/>
          </a:xfrm>
          <a:prstGeom prst="rect">
            <a:avLst/>
          </a:prstGeom>
        </p:spPr>
      </p:pic>
      <p:pic>
        <p:nvPicPr>
          <p:cNvPr id="5" name="Рисунок 4" descr="Изображение выглядит как воск, красный, свеч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77860F-B6A2-560B-3A30-1018BBA58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81" b="94953" l="8454" r="94433">
                        <a14:foregroundMark x1="9485" y1="33458" x2="11959" y2="85234"/>
                        <a14:foregroundMark x1="11959" y1="85234" x2="73814" y2="91589"/>
                        <a14:foregroundMark x1="73814" y1="91589" x2="86186" y2="85047"/>
                        <a14:foregroundMark x1="86186" y1="85047" x2="93814" y2="40374"/>
                        <a14:foregroundMark x1="93814" y1="40374" x2="92577" y2="28224"/>
                        <a14:foregroundMark x1="92577" y1="28224" x2="70309" y2="19626"/>
                        <a14:foregroundMark x1="70309" y1="19626" x2="22680" y2="22617"/>
                        <a14:foregroundMark x1="22680" y1="22617" x2="8454" y2="28785"/>
                        <a14:foregroundMark x1="8454" y1="28785" x2="21649" y2="38505"/>
                        <a14:foregroundMark x1="21649" y1="38505" x2="47423" y2="25421"/>
                        <a14:foregroundMark x1="47423" y1="25421" x2="62680" y2="32336"/>
                        <a14:foregroundMark x1="62680" y1="32336" x2="56289" y2="30467"/>
                        <a14:foregroundMark x1="89485" y1="24112" x2="95052" y2="35514"/>
                        <a14:foregroundMark x1="95052" y1="35514" x2="91134" y2="85794"/>
                        <a14:foregroundMark x1="91134" y1="85794" x2="74433" y2="91589"/>
                        <a14:foregroundMark x1="74433" y1="91589" x2="46186" y2="93271"/>
                        <a14:foregroundMark x1="46186" y1="93271" x2="19588" y2="88224"/>
                        <a14:foregroundMark x1="19588" y1="88224" x2="15670" y2="85794"/>
                        <a14:foregroundMark x1="93196" y1="24486" x2="92165" y2="52710"/>
                        <a14:foregroundMark x1="86392" y1="20561" x2="94021" y2="27477"/>
                        <a14:foregroundMark x1="89278" y1="22243" x2="94845" y2="26355"/>
                        <a14:foregroundMark x1="61443" y1="95140" x2="47010" y2="93645"/>
                        <a14:foregroundMark x1="50722" y1="17196" x2="51340" y2="5981"/>
                        <a14:foregroundMark x1="46804" y1="8411" x2="45361" y2="20374"/>
                        <a14:foregroundMark x1="49485" y1="10093" x2="55876" y2="16822"/>
                        <a14:foregroundMark x1="56907" y1="16262" x2="53608" y2="7477"/>
                        <a14:foregroundMark x1="54021" y1="8224" x2="54021" y2="185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155141">
            <a:off x="1039101" y="2382511"/>
            <a:ext cx="978702" cy="1079599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воск, красный, свеч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BE5BFA-7E3F-BE75-0AF7-6B2A22727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81" b="94953" l="8454" r="94433">
                        <a14:foregroundMark x1="9485" y1="33458" x2="11959" y2="85234"/>
                        <a14:foregroundMark x1="11959" y1="85234" x2="73814" y2="91589"/>
                        <a14:foregroundMark x1="73814" y1="91589" x2="86186" y2="85047"/>
                        <a14:foregroundMark x1="86186" y1="85047" x2="93814" y2="40374"/>
                        <a14:foregroundMark x1="93814" y1="40374" x2="92577" y2="28224"/>
                        <a14:foregroundMark x1="92577" y1="28224" x2="70309" y2="19626"/>
                        <a14:foregroundMark x1="70309" y1="19626" x2="22680" y2="22617"/>
                        <a14:foregroundMark x1="22680" y1="22617" x2="8454" y2="28785"/>
                        <a14:foregroundMark x1="8454" y1="28785" x2="21649" y2="38505"/>
                        <a14:foregroundMark x1="21649" y1="38505" x2="47423" y2="25421"/>
                        <a14:foregroundMark x1="47423" y1="25421" x2="62680" y2="32336"/>
                        <a14:foregroundMark x1="62680" y1="32336" x2="56289" y2="30467"/>
                        <a14:foregroundMark x1="89485" y1="24112" x2="95052" y2="35514"/>
                        <a14:foregroundMark x1="95052" y1="35514" x2="91134" y2="85794"/>
                        <a14:foregroundMark x1="91134" y1="85794" x2="74433" y2="91589"/>
                        <a14:foregroundMark x1="74433" y1="91589" x2="46186" y2="93271"/>
                        <a14:foregroundMark x1="46186" y1="93271" x2="19588" y2="88224"/>
                        <a14:foregroundMark x1="19588" y1="88224" x2="15670" y2="85794"/>
                        <a14:foregroundMark x1="93196" y1="24486" x2="92165" y2="52710"/>
                        <a14:foregroundMark x1="86392" y1="20561" x2="94021" y2="27477"/>
                        <a14:foregroundMark x1="89278" y1="22243" x2="94845" y2="26355"/>
                        <a14:foregroundMark x1="61443" y1="95140" x2="47010" y2="93645"/>
                        <a14:foregroundMark x1="50722" y1="17196" x2="51340" y2="5981"/>
                        <a14:foregroundMark x1="46804" y1="8411" x2="45361" y2="20374"/>
                        <a14:foregroundMark x1="49485" y1="10093" x2="55876" y2="16822"/>
                        <a14:foregroundMark x1="56907" y1="16262" x2="53608" y2="7477"/>
                        <a14:foregroundMark x1="54021" y1="8224" x2="54021" y2="185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26441">
            <a:off x="1638399" y="2736959"/>
            <a:ext cx="784660" cy="865553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Человеческое лицо, канцтовары, человек, улы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229CBC-12B6-C24E-5A5A-832237BBF0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91" b="94552" l="9651" r="95893">
                        <a14:foregroundMark x1="25051" y1="7206" x2="9856" y2="28822"/>
                        <a14:foregroundMark x1="9856" y1="28822" x2="12320" y2="83128"/>
                        <a14:foregroundMark x1="12320" y1="83128" x2="20945" y2="92091"/>
                        <a14:foregroundMark x1="20945" y1="92091" x2="62834" y2="89455"/>
                        <a14:foregroundMark x1="62834" y1="89455" x2="86242" y2="81898"/>
                        <a14:foregroundMark x1="86242" y1="81898" x2="92402" y2="17047"/>
                        <a14:foregroundMark x1="66735" y1="56591" x2="42094" y2="80844"/>
                        <a14:foregroundMark x1="69405" y1="65202" x2="44148" y2="76801"/>
                        <a14:foregroundMark x1="67146" y1="62917" x2="51951" y2="75220"/>
                        <a14:foregroundMark x1="16838" y1="94552" x2="41478" y2="90334"/>
                        <a14:foregroundMark x1="27721" y1="12302" x2="46201" y2="19508"/>
                        <a14:foregroundMark x1="46201" y1="19508" x2="59343" y2="10896"/>
                        <a14:foregroundMark x1="59343" y1="10896" x2="71253" y2="21441"/>
                        <a14:foregroundMark x1="71458" y1="16696" x2="57700" y2="8612"/>
                        <a14:foregroundMark x1="57700" y1="8612" x2="54620" y2="8963"/>
                        <a14:foregroundMark x1="56468" y1="8963" x2="11704" y2="22671"/>
                        <a14:foregroundMark x1="40657" y1="7909" x2="21150" y2="17575"/>
                        <a14:foregroundMark x1="26078" y1="3691" x2="23819" y2="10018"/>
                        <a14:foregroundMark x1="28337" y1="3866" x2="25462" y2="10369"/>
                        <a14:foregroundMark x1="61396" y1="6854" x2="52156" y2="11599"/>
                        <a14:foregroundMark x1="95893" y1="15114" x2="94661" y2="20562"/>
                        <a14:foregroundMark x1="95893" y1="15114" x2="95277" y2="196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11955">
            <a:off x="2996080" y="2313817"/>
            <a:ext cx="1196426" cy="1397877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пить, Сосуды для напитков, круж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C4CBCA-E58A-C0E8-D965-AD0ABFF971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026" b="95129" l="5638" r="97478">
                        <a14:foregroundMark x1="20326" y1="38825" x2="13205" y2="69198"/>
                        <a14:foregroundMark x1="17359" y1="72063" x2="19436" y2="57163"/>
                        <a14:foregroundMark x1="19436" y1="57163" x2="28635" y2="41117"/>
                        <a14:foregroundMark x1="35460" y1="41117" x2="26113" y2="66762"/>
                        <a14:foregroundMark x1="26409" y1="63181" x2="30119" y2="38252"/>
                        <a14:foregroundMark x1="7418" y1="36676" x2="9792" y2="53009"/>
                        <a14:foregroundMark x1="9792" y1="34814" x2="28042" y2="30802"/>
                        <a14:foregroundMark x1="28042" y1="30802" x2="43917" y2="32951"/>
                        <a14:foregroundMark x1="43917" y1="32951" x2="48665" y2="42264"/>
                        <a14:foregroundMark x1="48665" y1="42264" x2="48368" y2="55444"/>
                        <a14:foregroundMark x1="51335" y1="44556" x2="61721" y2="44986"/>
                        <a14:foregroundMark x1="61721" y1="44986" x2="67062" y2="52149"/>
                        <a14:foregroundMark x1="67062" y1="52149" x2="66617" y2="70774"/>
                        <a14:foregroundMark x1="66617" y1="70774" x2="62760" y2="76934"/>
                        <a14:foregroundMark x1="62760" y1="76934" x2="54451" y2="81375"/>
                        <a14:foregroundMark x1="54451" y1="81375" x2="46884" y2="82951"/>
                        <a14:foregroundMark x1="41246" y1="93410" x2="16617" y2="95129"/>
                        <a14:foregroundMark x1="37389" y1="29513" x2="38872" y2="15043"/>
                        <a14:foregroundMark x1="43472" y1="9885" x2="35460" y2="33954"/>
                        <a14:foregroundMark x1="36944" y1="31375" x2="41840" y2="14900"/>
                        <a14:foregroundMark x1="41098" y1="9312" x2="41246" y2="9885"/>
                        <a14:foregroundMark x1="66617" y1="17908" x2="90356" y2="91977"/>
                        <a14:foregroundMark x1="93472" y1="91691" x2="62760" y2="21347"/>
                        <a14:foregroundMark x1="78487" y1="56304" x2="82789" y2="83238"/>
                        <a14:foregroundMark x1="97478" y1="88682" x2="90356" y2="72493"/>
                        <a14:foregroundMark x1="36499" y1="33095" x2="36499" y2="33954"/>
                        <a14:foregroundMark x1="38427" y1="30659" x2="28338" y2="58166"/>
                        <a14:foregroundMark x1="30712" y1="52579" x2="42136" y2="31519"/>
                        <a14:foregroundMark x1="42582" y1="31805" x2="31157" y2="54585"/>
                        <a14:foregroundMark x1="9941" y1="32092" x2="5638" y2="37822"/>
                        <a14:foregroundMark x1="11573" y1="30802" x2="21068" y2="305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72654">
            <a:off x="1793472" y="4020841"/>
            <a:ext cx="1435180" cy="1486284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в помещении, крем для кожи, лось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0AFD8D-ECBE-3754-90D7-60EF8AC72B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backgroundMark x1="11111" y1="80120" x2="35294" y2="90964"/>
                        <a14:backgroundMark x1="56863" y1="93976" x2="83660" y2="59036"/>
                        <a14:backgroundMark x1="83660" y1="59036" x2="84314" y2="56627"/>
                        <a14:backgroundMark x1="73203" y1="66265" x2="65359" y2="96988"/>
                        <a14:backgroundMark x1="66013" y1="86747" x2="71242" y2="63855"/>
                        <a14:backgroundMark x1="68627" y1="62651" x2="62745" y2="94578"/>
                      </a14:backgroundRemoval>
                    </a14:imgEffect>
                  </a14:imgLayer>
                </a14:imgProps>
              </a:ext>
            </a:extLst>
          </a:blip>
          <a:srcRect t="18653" r="20046"/>
          <a:stretch>
            <a:fillRect/>
          </a:stretch>
        </p:blipFill>
        <p:spPr>
          <a:xfrm>
            <a:off x="3657933" y="4045926"/>
            <a:ext cx="1355491" cy="1496287"/>
          </a:xfrm>
          <a:prstGeom prst="rect">
            <a:avLst/>
          </a:prstGeom>
        </p:spPr>
      </p:pic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8D722BF1-CBE6-CE53-615A-E0DACEC929CE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033966" y="4462966"/>
            <a:ext cx="3670539" cy="1602606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66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73CB-207A-133B-EB58-2198ED48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69605A4-869E-7E3B-8475-645BE04E5C77}"/>
              </a:ext>
            </a:extLst>
          </p:cNvPr>
          <p:cNvGrpSpPr/>
          <p:nvPr/>
        </p:nvGrpSpPr>
        <p:grpSpPr>
          <a:xfrm>
            <a:off x="1034407" y="2322117"/>
            <a:ext cx="6821917" cy="3211574"/>
            <a:chOff x="1034407" y="2322117"/>
            <a:chExt cx="6821917" cy="3211574"/>
          </a:xfrm>
          <a:solidFill>
            <a:schemeClr val="accent4">
              <a:lumMod val="20000"/>
              <a:lumOff val="80000"/>
            </a:schemeClr>
          </a:solidFill>
        </p:grpSpPr>
        <p:cxnSp>
          <p:nvCxnSpPr>
            <p:cNvPr id="8" name="Соединитель: уступ 7">
              <a:extLst>
                <a:ext uri="{FF2B5EF4-FFF2-40B4-BE49-F238E27FC236}">
                  <a16:creationId xmlns:a16="http://schemas.microsoft.com/office/drawing/2014/main" id="{A5A313CC-02DB-D382-CFD5-D2DE5AA2B7B5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4335678" y="3071417"/>
              <a:ext cx="3520646" cy="565947"/>
            </a:xfrm>
            <a:prstGeom prst="bentConnector3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Соединитель: уступ 8">
              <a:extLst>
                <a:ext uri="{FF2B5EF4-FFF2-40B4-BE49-F238E27FC236}">
                  <a16:creationId xmlns:a16="http://schemas.microsoft.com/office/drawing/2014/main" id="{A185F31C-C264-18D2-4D6B-3663483E588C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>
              <a:off x="5084978" y="4784391"/>
              <a:ext cx="2022046" cy="585213"/>
            </a:xfrm>
            <a:prstGeom prst="bentConnector3">
              <a:avLst>
                <a:gd name="adj1" fmla="val 50000"/>
              </a:avLst>
            </a:prstGeom>
            <a:grpFill/>
            <a:ln w="19050">
              <a:solidFill>
                <a:schemeClr val="accent4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50BF46B5-A1BF-5807-304F-4A8A916441EC}"/>
                </a:ext>
              </a:extLst>
            </p:cNvPr>
            <p:cNvSpPr/>
            <p:nvPr/>
          </p:nvSpPr>
          <p:spPr>
            <a:xfrm>
              <a:off x="1034407" y="2322117"/>
              <a:ext cx="1498600" cy="14986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256B24C5-DEF7-8861-7546-5D215B26380B}"/>
                </a:ext>
              </a:extLst>
            </p:cNvPr>
            <p:cNvSpPr/>
            <p:nvPr/>
          </p:nvSpPr>
          <p:spPr>
            <a:xfrm>
              <a:off x="2837078" y="2322117"/>
              <a:ext cx="1498600" cy="14986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D262051-1AB7-5622-108A-01134DB1054B}"/>
                </a:ext>
              </a:extLst>
            </p:cNvPr>
            <p:cNvSpPr/>
            <p:nvPr/>
          </p:nvSpPr>
          <p:spPr>
            <a:xfrm>
              <a:off x="3586378" y="4035091"/>
              <a:ext cx="1498600" cy="14986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69DD329B-B03B-3E7E-E42E-180E57F35629}"/>
                </a:ext>
              </a:extLst>
            </p:cNvPr>
            <p:cNvSpPr/>
            <p:nvPr/>
          </p:nvSpPr>
          <p:spPr>
            <a:xfrm>
              <a:off x="1783707" y="4035091"/>
              <a:ext cx="1498600" cy="14986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B8EDF82-4A81-D6CD-B1CA-7499EB4AD190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8BF84A-1D7B-8BE3-0B2F-3D90D134E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ОПИСАНИЕ ТОВАРА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C95952C-51A9-71E1-A95C-DA5D676EA761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БОКС «КОМБИНИРОВАННЫЙ»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4A92258-C344-7409-9DBE-C1F14DB93A5C}"/>
              </a:ext>
            </a:extLst>
          </p:cNvPr>
          <p:cNvSpPr/>
          <p:nvPr/>
        </p:nvSpPr>
        <p:spPr>
          <a:xfrm>
            <a:off x="5973255" y="435210"/>
            <a:ext cx="6656439" cy="6339215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solidFill>
              <a:srgbClr val="404040"/>
            </a:solidFill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7148EC0-7603-584C-7526-D2321FB695A7}"/>
              </a:ext>
            </a:extLst>
          </p:cNvPr>
          <p:cNvSpPr/>
          <p:nvPr/>
        </p:nvSpPr>
        <p:spPr>
          <a:xfrm rot="3256761">
            <a:off x="6916199" y="1526718"/>
            <a:ext cx="4557656" cy="4557656"/>
          </a:xfrm>
          <a:custGeom>
            <a:avLst/>
            <a:gdLst>
              <a:gd name="csX0" fmla="*/ 0 w 4557656"/>
              <a:gd name="csY0" fmla="*/ 0 h 4557656"/>
              <a:gd name="csX1" fmla="*/ 4557656 w 4557656"/>
              <a:gd name="csY1" fmla="*/ 0 h 4557656"/>
              <a:gd name="csX2" fmla="*/ 4557656 w 4557656"/>
              <a:gd name="csY2" fmla="*/ 4557656 h 4557656"/>
              <a:gd name="csX3" fmla="*/ 0 w 4557656"/>
              <a:gd name="csY3" fmla="*/ 4557656 h 4557656"/>
              <a:gd name="csX4" fmla="*/ 0 w 4557656"/>
              <a:gd name="csY4" fmla="*/ 0 h 4557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7656" h="4557656" extrusionOk="0">
                <a:moveTo>
                  <a:pt x="0" y="0"/>
                </a:moveTo>
                <a:cubicBezTo>
                  <a:pt x="1105224" y="55493"/>
                  <a:pt x="3456290" y="-144892"/>
                  <a:pt x="4557656" y="0"/>
                </a:cubicBezTo>
                <a:cubicBezTo>
                  <a:pt x="4460331" y="735003"/>
                  <a:pt x="4491489" y="2673765"/>
                  <a:pt x="4557656" y="4557656"/>
                </a:cubicBezTo>
                <a:cubicBezTo>
                  <a:pt x="2649025" y="4593770"/>
                  <a:pt x="1277300" y="4619703"/>
                  <a:pt x="0" y="4557656"/>
                </a:cubicBezTo>
                <a:cubicBezTo>
                  <a:pt x="35881" y="2705156"/>
                  <a:pt x="86917" y="721843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75000"/>
                <a:alpha val="59000"/>
              </a:schemeClr>
            </a:solidFill>
            <a:extLst>
              <a:ext uri="{C807C97D-BFC1-408E-A445-0C87EB9F89A2}">
                <ask:lineSketchStyleProps xmlns:ask="http://schemas.microsoft.com/office/drawing/2018/sketchyshapes" sd="8667486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Свадебные сувениры, Подарок, еда, коро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20B24A-405C-5111-D6EC-7F304C7B5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723" flipH="1">
            <a:off x="6653908" y="702317"/>
            <a:ext cx="4450843" cy="6181726"/>
          </a:xfrm>
          <a:prstGeom prst="rect">
            <a:avLst/>
          </a:prstGeom>
        </p:spPr>
      </p:pic>
      <p:pic>
        <p:nvPicPr>
          <p:cNvPr id="3" name="Рисунок 2" descr="Изображение выглядит как воск, красный, свеч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C0E78D-2009-F064-8A0E-60792AED2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81" b="94953" l="8454" r="94433">
                        <a14:foregroundMark x1="9485" y1="33458" x2="11959" y2="85234"/>
                        <a14:foregroundMark x1="11959" y1="85234" x2="73814" y2="91589"/>
                        <a14:foregroundMark x1="73814" y1="91589" x2="86186" y2="85047"/>
                        <a14:foregroundMark x1="86186" y1="85047" x2="93814" y2="40374"/>
                        <a14:foregroundMark x1="93814" y1="40374" x2="92577" y2="28224"/>
                        <a14:foregroundMark x1="92577" y1="28224" x2="70309" y2="19626"/>
                        <a14:foregroundMark x1="70309" y1="19626" x2="22680" y2="22617"/>
                        <a14:foregroundMark x1="22680" y1="22617" x2="8454" y2="28785"/>
                        <a14:foregroundMark x1="8454" y1="28785" x2="21649" y2="38505"/>
                        <a14:foregroundMark x1="21649" y1="38505" x2="47423" y2="25421"/>
                        <a14:foregroundMark x1="47423" y1="25421" x2="62680" y2="32336"/>
                        <a14:foregroundMark x1="62680" y1="32336" x2="56289" y2="30467"/>
                        <a14:foregroundMark x1="89485" y1="24112" x2="95052" y2="35514"/>
                        <a14:foregroundMark x1="95052" y1="35514" x2="91134" y2="85794"/>
                        <a14:foregroundMark x1="91134" y1="85794" x2="74433" y2="91589"/>
                        <a14:foregroundMark x1="74433" y1="91589" x2="46186" y2="93271"/>
                        <a14:foregroundMark x1="46186" y1="93271" x2="19588" y2="88224"/>
                        <a14:foregroundMark x1="19588" y1="88224" x2="15670" y2="85794"/>
                        <a14:foregroundMark x1="93196" y1="24486" x2="92165" y2="52710"/>
                        <a14:foregroundMark x1="86392" y1="20561" x2="94021" y2="27477"/>
                        <a14:foregroundMark x1="89278" y1="22243" x2="94845" y2="26355"/>
                        <a14:foregroundMark x1="61443" y1="95140" x2="47010" y2="93645"/>
                        <a14:foregroundMark x1="50722" y1="17196" x2="51340" y2="5981"/>
                        <a14:foregroundMark x1="46804" y1="8411" x2="45361" y2="20374"/>
                        <a14:foregroundMark x1="49485" y1="10093" x2="55876" y2="16822"/>
                        <a14:foregroundMark x1="56907" y1="16262" x2="53608" y2="7477"/>
                        <a14:foregroundMark x1="54021" y1="8224" x2="54021" y2="185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155141">
            <a:off x="3621507" y="4174284"/>
            <a:ext cx="978702" cy="1079599"/>
          </a:xfrm>
          <a:prstGeom prst="rect">
            <a:avLst/>
          </a:prstGeom>
        </p:spPr>
      </p:pic>
      <p:pic>
        <p:nvPicPr>
          <p:cNvPr id="6" name="Рисунок 5" descr="Изображение выглядит как воск, красный, свеч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83956D-607F-1947-3091-888A0A610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81" b="94953" l="8454" r="94433">
                        <a14:foregroundMark x1="9485" y1="33458" x2="11959" y2="85234"/>
                        <a14:foregroundMark x1="11959" y1="85234" x2="73814" y2="91589"/>
                        <a14:foregroundMark x1="73814" y1="91589" x2="86186" y2="85047"/>
                        <a14:foregroundMark x1="86186" y1="85047" x2="93814" y2="40374"/>
                        <a14:foregroundMark x1="93814" y1="40374" x2="92577" y2="28224"/>
                        <a14:foregroundMark x1="92577" y1="28224" x2="70309" y2="19626"/>
                        <a14:foregroundMark x1="70309" y1="19626" x2="22680" y2="22617"/>
                        <a14:foregroundMark x1="22680" y1="22617" x2="8454" y2="28785"/>
                        <a14:foregroundMark x1="8454" y1="28785" x2="21649" y2="38505"/>
                        <a14:foregroundMark x1="21649" y1="38505" x2="47423" y2="25421"/>
                        <a14:foregroundMark x1="47423" y1="25421" x2="62680" y2="32336"/>
                        <a14:foregroundMark x1="62680" y1="32336" x2="56289" y2="30467"/>
                        <a14:foregroundMark x1="89485" y1="24112" x2="95052" y2="35514"/>
                        <a14:foregroundMark x1="95052" y1="35514" x2="91134" y2="85794"/>
                        <a14:foregroundMark x1="91134" y1="85794" x2="74433" y2="91589"/>
                        <a14:foregroundMark x1="74433" y1="91589" x2="46186" y2="93271"/>
                        <a14:foregroundMark x1="46186" y1="93271" x2="19588" y2="88224"/>
                        <a14:foregroundMark x1="19588" y1="88224" x2="15670" y2="85794"/>
                        <a14:foregroundMark x1="93196" y1="24486" x2="92165" y2="52710"/>
                        <a14:foregroundMark x1="86392" y1="20561" x2="94021" y2="27477"/>
                        <a14:foregroundMark x1="89278" y1="22243" x2="94845" y2="26355"/>
                        <a14:foregroundMark x1="61443" y1="95140" x2="47010" y2="93645"/>
                        <a14:foregroundMark x1="50722" y1="17196" x2="51340" y2="5981"/>
                        <a14:foregroundMark x1="46804" y1="8411" x2="45361" y2="20374"/>
                        <a14:foregroundMark x1="49485" y1="10093" x2="55876" y2="16822"/>
                        <a14:foregroundMark x1="56907" y1="16262" x2="53608" y2="7477"/>
                        <a14:foregroundMark x1="54021" y1="8224" x2="54021" y2="185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26441">
            <a:off x="4220805" y="4528732"/>
            <a:ext cx="784660" cy="865553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Человеческое лицо, канцтовары, человек, улы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2828AB-FA42-83FC-E003-44C9682FB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91" b="94552" l="9651" r="95893">
                        <a14:foregroundMark x1="25051" y1="7206" x2="9856" y2="28822"/>
                        <a14:foregroundMark x1="9856" y1="28822" x2="12320" y2="83128"/>
                        <a14:foregroundMark x1="12320" y1="83128" x2="20945" y2="92091"/>
                        <a14:foregroundMark x1="20945" y1="92091" x2="62834" y2="89455"/>
                        <a14:foregroundMark x1="62834" y1="89455" x2="86242" y2="81898"/>
                        <a14:foregroundMark x1="86242" y1="81898" x2="92402" y2="17047"/>
                        <a14:foregroundMark x1="66735" y1="56591" x2="42094" y2="80844"/>
                        <a14:foregroundMark x1="69405" y1="65202" x2="44148" y2="76801"/>
                        <a14:foregroundMark x1="67146" y1="62917" x2="51951" y2="75220"/>
                        <a14:foregroundMark x1="16838" y1="94552" x2="41478" y2="90334"/>
                        <a14:foregroundMark x1="27721" y1="12302" x2="46201" y2="19508"/>
                        <a14:foregroundMark x1="46201" y1="19508" x2="59343" y2="10896"/>
                        <a14:foregroundMark x1="59343" y1="10896" x2="71253" y2="21441"/>
                        <a14:foregroundMark x1="71458" y1="16696" x2="57700" y2="8612"/>
                        <a14:foregroundMark x1="57700" y1="8612" x2="54620" y2="8963"/>
                        <a14:foregroundMark x1="56468" y1="8963" x2="11704" y2="22671"/>
                        <a14:foregroundMark x1="40657" y1="7909" x2="21150" y2="17575"/>
                        <a14:foregroundMark x1="26078" y1="3691" x2="23819" y2="10018"/>
                        <a14:foregroundMark x1="28337" y1="3866" x2="25462" y2="10369"/>
                        <a14:foregroundMark x1="61396" y1="6854" x2="52156" y2="11599"/>
                        <a14:foregroundMark x1="95893" y1="15114" x2="94661" y2="20562"/>
                        <a14:foregroundMark x1="95893" y1="15114" x2="95277" y2="196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11955">
            <a:off x="1193410" y="2305191"/>
            <a:ext cx="1196426" cy="1397877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еда, конфета, кондитерские изделия, Плитки кака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DCD585-5C28-AB62-D6FE-642DC53B90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533" b="89907" l="5085" r="91988">
                        <a14:foregroundMark x1="7757" y1="38318" x2="12173" y2="45421"/>
                        <a14:foregroundMark x1="5085" y1="34019" x2="5327" y2="34408"/>
                        <a14:foregroundMark x1="8475" y1="32710" x2="11248" y2="45421"/>
                        <a14:foregroundMark x1="37596" y1="90093" x2="47458" y2="88037"/>
                        <a14:foregroundMark x1="89676" y1="48785" x2="91988" y2="61869"/>
                        <a14:foregroundMark x1="91988" y1="61869" x2="91834" y2="62430"/>
                        <a14:foregroundMark x1="55470" y1="11215" x2="56394" y2="9533"/>
                        <a14:foregroundMark x1="7550" y1="30093" x2="17257" y2="26542"/>
                        <a14:foregroundMark x1="17257" y1="26542" x2="7550" y2="29346"/>
                        <a14:backgroundMark x1="4931" y1="33832" x2="4622" y2="40187"/>
                        <a14:backgroundMark x1="5239" y1="35514" x2="5085" y2="39626"/>
                        <a14:backgroundMark x1="5393" y1="34393" x2="5855" y2="371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12134">
            <a:off x="1710916" y="4083631"/>
            <a:ext cx="1700161" cy="1401519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кружка, кофейная чашка, Сосуды для напитков, посу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826D09-F7AE-435A-EB9C-8E00FD3A42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1" b="89796" l="9636" r="92077">
                        <a14:foregroundMark x1="85653" y1="23129" x2="90792" y2="35828"/>
                        <a14:foregroundMark x1="90792" y1="35828" x2="90578" y2="56236"/>
                        <a14:foregroundMark x1="90578" y1="56236" x2="86081" y2="65306"/>
                        <a14:foregroundMark x1="89079" y1="25397" x2="92077" y2="38095"/>
                        <a14:foregroundMark x1="88865" y1="27211" x2="90364" y2="39002"/>
                        <a14:foregroundMark x1="89722" y1="26984" x2="91863" y2="369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26126">
            <a:off x="2912709" y="2322116"/>
            <a:ext cx="1586953" cy="1498600"/>
          </a:xfrm>
          <a:prstGeom prst="rect">
            <a:avLst/>
          </a:prstGeom>
        </p:spPr>
      </p:pic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82133F22-391E-EF95-A41D-9A8459B34D95}"/>
              </a:ext>
            </a:extLst>
          </p:cNvPr>
          <p:cNvCxnSpPr/>
          <p:nvPr/>
        </p:nvCxnSpPr>
        <p:spPr>
          <a:xfrm>
            <a:off x="-66196" y="5835495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602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6367-A5E9-CDD3-CCAB-2A32D2D6A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Овал 19">
            <a:extLst>
              <a:ext uri="{FF2B5EF4-FFF2-40B4-BE49-F238E27FC236}">
                <a16:creationId xmlns:a16="http://schemas.microsoft.com/office/drawing/2014/main" id="{63E6E204-6EC7-7846-3B66-0FFEBC2DF8CB}"/>
              </a:ext>
            </a:extLst>
          </p:cNvPr>
          <p:cNvSpPr/>
          <p:nvPr/>
        </p:nvSpPr>
        <p:spPr>
          <a:xfrm>
            <a:off x="6312815" y="1428750"/>
            <a:ext cx="4181383" cy="4181383"/>
          </a:xfrm>
          <a:prstGeom prst="ellipse">
            <a:avLst/>
          </a:prstGeom>
          <a:solidFill>
            <a:srgbClr val="5378FF">
              <a:alpha val="23000"/>
            </a:srgb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A51FF2C-3D86-AF9D-61AD-B2F737BC9022}"/>
              </a:ext>
            </a:extLst>
          </p:cNvPr>
          <p:cNvSpPr/>
          <p:nvPr/>
        </p:nvSpPr>
        <p:spPr>
          <a:xfrm>
            <a:off x="1712465" y="1587725"/>
            <a:ext cx="4181383" cy="4181383"/>
          </a:xfrm>
          <a:prstGeom prst="ellipse">
            <a:avLst/>
          </a:prstGeom>
          <a:solidFill>
            <a:srgbClr val="5378FF">
              <a:alpha val="23000"/>
            </a:srgb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14830119-CF2D-32E3-C387-D3E2F4959B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03634" y="-239537"/>
            <a:ext cx="3014670" cy="2546194"/>
          </a:xfrm>
          <a:prstGeom prst="bentConnector3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C6A2D31E-0F16-5E79-CEC0-828FC4D593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43369" y="1916648"/>
            <a:ext cx="3029319" cy="2753298"/>
          </a:xfrm>
          <a:prstGeom prst="bentConnector3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3D8C6F79-10DF-6463-62B0-0AE09F670594}"/>
              </a:ext>
            </a:extLst>
          </p:cNvPr>
          <p:cNvCxnSpPr>
            <a:cxnSpLocks/>
          </p:cNvCxnSpPr>
          <p:nvPr/>
        </p:nvCxnSpPr>
        <p:spPr>
          <a:xfrm rot="16200000" flipH="1">
            <a:off x="-692840" y="1886459"/>
            <a:ext cx="3014670" cy="2546193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4F33F1C4-DA30-6C15-6460-4584740CFDE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50667" y="4138872"/>
            <a:ext cx="3014670" cy="2546193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2597F23-6D1C-FD35-1F20-55488672B9B5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A89B9-2246-232D-BF2C-C2A3CBF3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РЕАЛИЗАЦИЯ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141E7CD-31AC-2E0F-4922-FEA80E0B07F2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ЦЕНОВАЯ ПОЛИТИКА</a:t>
            </a:r>
          </a:p>
        </p:txBody>
      </p:sp>
      <p:pic>
        <p:nvPicPr>
          <p:cNvPr id="3" name="Рисунок 2" descr="Изображение выглядит как коробк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98504A-1DEB-87D1-E110-B859B25A3E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4" t="23893" r="12231"/>
          <a:stretch>
            <a:fillRect/>
          </a:stretch>
        </p:blipFill>
        <p:spPr>
          <a:xfrm flipH="1">
            <a:off x="494025" y="1660847"/>
            <a:ext cx="2500250" cy="3494683"/>
          </a:xfrm>
          <a:prstGeom prst="rect">
            <a:avLst/>
          </a:prstGeom>
        </p:spPr>
      </p:pic>
      <p:pic>
        <p:nvPicPr>
          <p:cNvPr id="5" name="Рисунок 4" descr="Изображение выглядит как Упаковка и маркировка, Подарок, коробка, контейн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257E30E-5EF7-9A55-CD29-CD35012B4C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13836" y="939608"/>
            <a:ext cx="3196723" cy="4439893"/>
          </a:xfrm>
          <a:prstGeom prst="rect">
            <a:avLst/>
          </a:prstGeom>
        </p:spPr>
      </p:pic>
      <p:pic>
        <p:nvPicPr>
          <p:cNvPr id="6" name="Рисунок 5" descr="Изображение выглядит как коробка, контейнер, Свадебные сувенир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3041EE-9FF9-0272-E98E-792225B49E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5490" y1="16296" x2="14583" y2="17667"/>
                        <a14:foregroundMark x1="15046" y1="16500" x2="14931" y2="17750"/>
                        <a14:backgroundMark x1="75347" y1="12833" x2="73611" y2="21333"/>
                        <a14:backgroundMark x1="73611" y1="12333" x2="76157" y2="16333"/>
                        <a14:backgroundMark x1="74306" y1="12000" x2="75463" y2="13917"/>
                        <a14:backgroundMark x1="72685" y1="11500" x2="60532" y2="9667"/>
                        <a14:backgroundMark x1="60532" y1="9667" x2="60532" y2="9667"/>
                        <a14:backgroundMark x1="62731" y1="10417" x2="48032" y2="11417"/>
                        <a14:backgroundMark x1="63889" y1="9667" x2="52315" y2="11583"/>
                        <a14:backgroundMark x1="33565" y1="10833" x2="15278" y2="13083"/>
                        <a14:backgroundMark x1="13868" y1="17699" x2="9375" y2="32417"/>
                        <a14:backgroundMark x1="15278" y1="13083" x2="14531" y2="15529"/>
                        <a14:backgroundMark x1="68634" y1="10500" x2="10995" y2="15417"/>
                        <a14:backgroundMark x1="69444" y1="11667" x2="33565" y2="130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07618" y="1150743"/>
            <a:ext cx="3233698" cy="4491247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вадебные сувениры, Подарок, еда, коро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D55294-A0B8-49D0-CF7A-A3193B7AEC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5436" y="1700049"/>
            <a:ext cx="2619924" cy="363878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6392D64-B541-D1B2-1D46-DD6E66B9FD7B}"/>
              </a:ext>
            </a:extLst>
          </p:cNvPr>
          <p:cNvSpPr/>
          <p:nvPr/>
        </p:nvSpPr>
        <p:spPr>
          <a:xfrm>
            <a:off x="494025" y="5497179"/>
            <a:ext cx="2294626" cy="897147"/>
          </a:xfrm>
          <a:custGeom>
            <a:avLst/>
            <a:gdLst>
              <a:gd name="csX0" fmla="*/ 0 w 2294626"/>
              <a:gd name="csY0" fmla="*/ 0 h 897147"/>
              <a:gd name="csX1" fmla="*/ 573657 w 2294626"/>
              <a:gd name="csY1" fmla="*/ 0 h 897147"/>
              <a:gd name="csX2" fmla="*/ 1101420 w 2294626"/>
              <a:gd name="csY2" fmla="*/ 0 h 897147"/>
              <a:gd name="csX3" fmla="*/ 1675077 w 2294626"/>
              <a:gd name="csY3" fmla="*/ 0 h 897147"/>
              <a:gd name="csX4" fmla="*/ 2294626 w 2294626"/>
              <a:gd name="csY4" fmla="*/ 0 h 897147"/>
              <a:gd name="csX5" fmla="*/ 2294626 w 2294626"/>
              <a:gd name="csY5" fmla="*/ 421659 h 897147"/>
              <a:gd name="csX6" fmla="*/ 2294626 w 2294626"/>
              <a:gd name="csY6" fmla="*/ 897147 h 897147"/>
              <a:gd name="csX7" fmla="*/ 1766862 w 2294626"/>
              <a:gd name="csY7" fmla="*/ 897147 h 897147"/>
              <a:gd name="csX8" fmla="*/ 1170259 w 2294626"/>
              <a:gd name="csY8" fmla="*/ 897147 h 897147"/>
              <a:gd name="csX9" fmla="*/ 596603 w 2294626"/>
              <a:gd name="csY9" fmla="*/ 897147 h 897147"/>
              <a:gd name="csX10" fmla="*/ 0 w 2294626"/>
              <a:gd name="csY10" fmla="*/ 897147 h 897147"/>
              <a:gd name="csX11" fmla="*/ 0 w 2294626"/>
              <a:gd name="csY11" fmla="*/ 457545 h 897147"/>
              <a:gd name="csX12" fmla="*/ 0 w 2294626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4626" h="897147" fill="none" extrusionOk="0">
                <a:moveTo>
                  <a:pt x="0" y="0"/>
                </a:moveTo>
                <a:cubicBezTo>
                  <a:pt x="243108" y="6607"/>
                  <a:pt x="413647" y="10860"/>
                  <a:pt x="573657" y="0"/>
                </a:cubicBezTo>
                <a:cubicBezTo>
                  <a:pt x="733667" y="-10860"/>
                  <a:pt x="861785" y="-19359"/>
                  <a:pt x="1101420" y="0"/>
                </a:cubicBezTo>
                <a:cubicBezTo>
                  <a:pt x="1341055" y="19359"/>
                  <a:pt x="1436856" y="9213"/>
                  <a:pt x="1675077" y="0"/>
                </a:cubicBezTo>
                <a:cubicBezTo>
                  <a:pt x="1913298" y="-9213"/>
                  <a:pt x="2024827" y="-21672"/>
                  <a:pt x="2294626" y="0"/>
                </a:cubicBezTo>
                <a:cubicBezTo>
                  <a:pt x="2302711" y="184449"/>
                  <a:pt x="2274905" y="257795"/>
                  <a:pt x="2294626" y="421659"/>
                </a:cubicBezTo>
                <a:cubicBezTo>
                  <a:pt x="2314347" y="585523"/>
                  <a:pt x="2282523" y="775196"/>
                  <a:pt x="2294626" y="897147"/>
                </a:cubicBezTo>
                <a:cubicBezTo>
                  <a:pt x="2127717" y="881589"/>
                  <a:pt x="1904334" y="879011"/>
                  <a:pt x="1766862" y="897147"/>
                </a:cubicBezTo>
                <a:cubicBezTo>
                  <a:pt x="1629390" y="915283"/>
                  <a:pt x="1321531" y="918534"/>
                  <a:pt x="1170259" y="897147"/>
                </a:cubicBezTo>
                <a:cubicBezTo>
                  <a:pt x="1018987" y="875760"/>
                  <a:pt x="881091" y="880858"/>
                  <a:pt x="596603" y="897147"/>
                </a:cubicBezTo>
                <a:cubicBezTo>
                  <a:pt x="312115" y="913436"/>
                  <a:pt x="239498" y="892026"/>
                  <a:pt x="0" y="897147"/>
                </a:cubicBezTo>
                <a:cubicBezTo>
                  <a:pt x="5299" y="794192"/>
                  <a:pt x="1984" y="643113"/>
                  <a:pt x="0" y="457545"/>
                </a:cubicBezTo>
                <a:cubicBezTo>
                  <a:pt x="-1984" y="271977"/>
                  <a:pt x="-15953" y="144161"/>
                  <a:pt x="0" y="0"/>
                </a:cubicBezTo>
                <a:close/>
              </a:path>
              <a:path w="2294626" h="897147" stroke="0" extrusionOk="0">
                <a:moveTo>
                  <a:pt x="0" y="0"/>
                </a:moveTo>
                <a:cubicBezTo>
                  <a:pt x="272375" y="16755"/>
                  <a:pt x="355797" y="-17265"/>
                  <a:pt x="573657" y="0"/>
                </a:cubicBezTo>
                <a:cubicBezTo>
                  <a:pt x="791517" y="17265"/>
                  <a:pt x="971067" y="-1050"/>
                  <a:pt x="1193206" y="0"/>
                </a:cubicBezTo>
                <a:cubicBezTo>
                  <a:pt x="1415345" y="1050"/>
                  <a:pt x="1575864" y="12260"/>
                  <a:pt x="1743916" y="0"/>
                </a:cubicBezTo>
                <a:cubicBezTo>
                  <a:pt x="1911968" y="-12260"/>
                  <a:pt x="2160284" y="15111"/>
                  <a:pt x="2294626" y="0"/>
                </a:cubicBezTo>
                <a:cubicBezTo>
                  <a:pt x="2285677" y="195373"/>
                  <a:pt x="2303834" y="258603"/>
                  <a:pt x="2294626" y="439602"/>
                </a:cubicBezTo>
                <a:cubicBezTo>
                  <a:pt x="2285418" y="620601"/>
                  <a:pt x="2297233" y="763171"/>
                  <a:pt x="2294626" y="897147"/>
                </a:cubicBezTo>
                <a:cubicBezTo>
                  <a:pt x="2092215" y="893782"/>
                  <a:pt x="1973814" y="896174"/>
                  <a:pt x="1720970" y="897147"/>
                </a:cubicBezTo>
                <a:cubicBezTo>
                  <a:pt x="1468126" y="898120"/>
                  <a:pt x="1414844" y="916956"/>
                  <a:pt x="1216152" y="897147"/>
                </a:cubicBezTo>
                <a:cubicBezTo>
                  <a:pt x="1017460" y="877338"/>
                  <a:pt x="911560" y="876905"/>
                  <a:pt x="665442" y="897147"/>
                </a:cubicBezTo>
                <a:cubicBezTo>
                  <a:pt x="419324" y="917390"/>
                  <a:pt x="165961" y="901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noFill/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СТАНДАРТНЫЙ</a:t>
            </a: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2.500₽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95C039D-6614-C148-3954-0145DFF6F90F}"/>
              </a:ext>
            </a:extLst>
          </p:cNvPr>
          <p:cNvSpPr/>
          <p:nvPr/>
        </p:nvSpPr>
        <p:spPr>
          <a:xfrm>
            <a:off x="3529084" y="5497179"/>
            <a:ext cx="2294626" cy="897147"/>
          </a:xfrm>
          <a:custGeom>
            <a:avLst/>
            <a:gdLst>
              <a:gd name="csX0" fmla="*/ 0 w 2294626"/>
              <a:gd name="csY0" fmla="*/ 0 h 897147"/>
              <a:gd name="csX1" fmla="*/ 573657 w 2294626"/>
              <a:gd name="csY1" fmla="*/ 0 h 897147"/>
              <a:gd name="csX2" fmla="*/ 1101420 w 2294626"/>
              <a:gd name="csY2" fmla="*/ 0 h 897147"/>
              <a:gd name="csX3" fmla="*/ 1675077 w 2294626"/>
              <a:gd name="csY3" fmla="*/ 0 h 897147"/>
              <a:gd name="csX4" fmla="*/ 2294626 w 2294626"/>
              <a:gd name="csY4" fmla="*/ 0 h 897147"/>
              <a:gd name="csX5" fmla="*/ 2294626 w 2294626"/>
              <a:gd name="csY5" fmla="*/ 421659 h 897147"/>
              <a:gd name="csX6" fmla="*/ 2294626 w 2294626"/>
              <a:gd name="csY6" fmla="*/ 897147 h 897147"/>
              <a:gd name="csX7" fmla="*/ 1766862 w 2294626"/>
              <a:gd name="csY7" fmla="*/ 897147 h 897147"/>
              <a:gd name="csX8" fmla="*/ 1170259 w 2294626"/>
              <a:gd name="csY8" fmla="*/ 897147 h 897147"/>
              <a:gd name="csX9" fmla="*/ 596603 w 2294626"/>
              <a:gd name="csY9" fmla="*/ 897147 h 897147"/>
              <a:gd name="csX10" fmla="*/ 0 w 2294626"/>
              <a:gd name="csY10" fmla="*/ 897147 h 897147"/>
              <a:gd name="csX11" fmla="*/ 0 w 2294626"/>
              <a:gd name="csY11" fmla="*/ 457545 h 897147"/>
              <a:gd name="csX12" fmla="*/ 0 w 2294626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4626" h="897147" fill="none" extrusionOk="0">
                <a:moveTo>
                  <a:pt x="0" y="0"/>
                </a:moveTo>
                <a:cubicBezTo>
                  <a:pt x="243108" y="6607"/>
                  <a:pt x="413647" y="10860"/>
                  <a:pt x="573657" y="0"/>
                </a:cubicBezTo>
                <a:cubicBezTo>
                  <a:pt x="733667" y="-10860"/>
                  <a:pt x="861785" y="-19359"/>
                  <a:pt x="1101420" y="0"/>
                </a:cubicBezTo>
                <a:cubicBezTo>
                  <a:pt x="1341055" y="19359"/>
                  <a:pt x="1436856" y="9213"/>
                  <a:pt x="1675077" y="0"/>
                </a:cubicBezTo>
                <a:cubicBezTo>
                  <a:pt x="1913298" y="-9213"/>
                  <a:pt x="2024827" y="-21672"/>
                  <a:pt x="2294626" y="0"/>
                </a:cubicBezTo>
                <a:cubicBezTo>
                  <a:pt x="2302711" y="184449"/>
                  <a:pt x="2274905" y="257795"/>
                  <a:pt x="2294626" y="421659"/>
                </a:cubicBezTo>
                <a:cubicBezTo>
                  <a:pt x="2314347" y="585523"/>
                  <a:pt x="2282523" y="775196"/>
                  <a:pt x="2294626" y="897147"/>
                </a:cubicBezTo>
                <a:cubicBezTo>
                  <a:pt x="2127717" y="881589"/>
                  <a:pt x="1904334" y="879011"/>
                  <a:pt x="1766862" y="897147"/>
                </a:cubicBezTo>
                <a:cubicBezTo>
                  <a:pt x="1629390" y="915283"/>
                  <a:pt x="1321531" y="918534"/>
                  <a:pt x="1170259" y="897147"/>
                </a:cubicBezTo>
                <a:cubicBezTo>
                  <a:pt x="1018987" y="875760"/>
                  <a:pt x="881091" y="880858"/>
                  <a:pt x="596603" y="897147"/>
                </a:cubicBezTo>
                <a:cubicBezTo>
                  <a:pt x="312115" y="913436"/>
                  <a:pt x="239498" y="892026"/>
                  <a:pt x="0" y="897147"/>
                </a:cubicBezTo>
                <a:cubicBezTo>
                  <a:pt x="5299" y="794192"/>
                  <a:pt x="1984" y="643113"/>
                  <a:pt x="0" y="457545"/>
                </a:cubicBezTo>
                <a:cubicBezTo>
                  <a:pt x="-1984" y="271977"/>
                  <a:pt x="-15953" y="144161"/>
                  <a:pt x="0" y="0"/>
                </a:cubicBezTo>
                <a:close/>
              </a:path>
              <a:path w="2294626" h="897147" stroke="0" extrusionOk="0">
                <a:moveTo>
                  <a:pt x="0" y="0"/>
                </a:moveTo>
                <a:cubicBezTo>
                  <a:pt x="272375" y="16755"/>
                  <a:pt x="355797" y="-17265"/>
                  <a:pt x="573657" y="0"/>
                </a:cubicBezTo>
                <a:cubicBezTo>
                  <a:pt x="791517" y="17265"/>
                  <a:pt x="971067" y="-1050"/>
                  <a:pt x="1193206" y="0"/>
                </a:cubicBezTo>
                <a:cubicBezTo>
                  <a:pt x="1415345" y="1050"/>
                  <a:pt x="1575864" y="12260"/>
                  <a:pt x="1743916" y="0"/>
                </a:cubicBezTo>
                <a:cubicBezTo>
                  <a:pt x="1911968" y="-12260"/>
                  <a:pt x="2160284" y="15111"/>
                  <a:pt x="2294626" y="0"/>
                </a:cubicBezTo>
                <a:cubicBezTo>
                  <a:pt x="2285677" y="195373"/>
                  <a:pt x="2303834" y="258603"/>
                  <a:pt x="2294626" y="439602"/>
                </a:cubicBezTo>
                <a:cubicBezTo>
                  <a:pt x="2285418" y="620601"/>
                  <a:pt x="2297233" y="763171"/>
                  <a:pt x="2294626" y="897147"/>
                </a:cubicBezTo>
                <a:cubicBezTo>
                  <a:pt x="2092215" y="893782"/>
                  <a:pt x="1973814" y="896174"/>
                  <a:pt x="1720970" y="897147"/>
                </a:cubicBezTo>
                <a:cubicBezTo>
                  <a:pt x="1468126" y="898120"/>
                  <a:pt x="1414844" y="916956"/>
                  <a:pt x="1216152" y="897147"/>
                </a:cubicBezTo>
                <a:cubicBezTo>
                  <a:pt x="1017460" y="877338"/>
                  <a:pt x="911560" y="876905"/>
                  <a:pt x="665442" y="897147"/>
                </a:cubicBezTo>
                <a:cubicBezTo>
                  <a:pt x="419324" y="917390"/>
                  <a:pt x="165961" y="901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noFill/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ЦВЕТОЧНЫЙ</a:t>
            </a: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3.0000₽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E3390F3-3B94-DCB9-A0E7-A32B1C105796}"/>
              </a:ext>
            </a:extLst>
          </p:cNvPr>
          <p:cNvSpPr/>
          <p:nvPr/>
        </p:nvSpPr>
        <p:spPr>
          <a:xfrm>
            <a:off x="6564143" y="5497179"/>
            <a:ext cx="2294626" cy="897147"/>
          </a:xfrm>
          <a:custGeom>
            <a:avLst/>
            <a:gdLst>
              <a:gd name="csX0" fmla="*/ 0 w 2294626"/>
              <a:gd name="csY0" fmla="*/ 0 h 897147"/>
              <a:gd name="csX1" fmla="*/ 573657 w 2294626"/>
              <a:gd name="csY1" fmla="*/ 0 h 897147"/>
              <a:gd name="csX2" fmla="*/ 1101420 w 2294626"/>
              <a:gd name="csY2" fmla="*/ 0 h 897147"/>
              <a:gd name="csX3" fmla="*/ 1675077 w 2294626"/>
              <a:gd name="csY3" fmla="*/ 0 h 897147"/>
              <a:gd name="csX4" fmla="*/ 2294626 w 2294626"/>
              <a:gd name="csY4" fmla="*/ 0 h 897147"/>
              <a:gd name="csX5" fmla="*/ 2294626 w 2294626"/>
              <a:gd name="csY5" fmla="*/ 421659 h 897147"/>
              <a:gd name="csX6" fmla="*/ 2294626 w 2294626"/>
              <a:gd name="csY6" fmla="*/ 897147 h 897147"/>
              <a:gd name="csX7" fmla="*/ 1766862 w 2294626"/>
              <a:gd name="csY7" fmla="*/ 897147 h 897147"/>
              <a:gd name="csX8" fmla="*/ 1170259 w 2294626"/>
              <a:gd name="csY8" fmla="*/ 897147 h 897147"/>
              <a:gd name="csX9" fmla="*/ 596603 w 2294626"/>
              <a:gd name="csY9" fmla="*/ 897147 h 897147"/>
              <a:gd name="csX10" fmla="*/ 0 w 2294626"/>
              <a:gd name="csY10" fmla="*/ 897147 h 897147"/>
              <a:gd name="csX11" fmla="*/ 0 w 2294626"/>
              <a:gd name="csY11" fmla="*/ 457545 h 897147"/>
              <a:gd name="csX12" fmla="*/ 0 w 2294626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4626" h="897147" fill="none" extrusionOk="0">
                <a:moveTo>
                  <a:pt x="0" y="0"/>
                </a:moveTo>
                <a:cubicBezTo>
                  <a:pt x="243108" y="6607"/>
                  <a:pt x="413647" y="10860"/>
                  <a:pt x="573657" y="0"/>
                </a:cubicBezTo>
                <a:cubicBezTo>
                  <a:pt x="733667" y="-10860"/>
                  <a:pt x="861785" y="-19359"/>
                  <a:pt x="1101420" y="0"/>
                </a:cubicBezTo>
                <a:cubicBezTo>
                  <a:pt x="1341055" y="19359"/>
                  <a:pt x="1436856" y="9213"/>
                  <a:pt x="1675077" y="0"/>
                </a:cubicBezTo>
                <a:cubicBezTo>
                  <a:pt x="1913298" y="-9213"/>
                  <a:pt x="2024827" y="-21672"/>
                  <a:pt x="2294626" y="0"/>
                </a:cubicBezTo>
                <a:cubicBezTo>
                  <a:pt x="2302711" y="184449"/>
                  <a:pt x="2274905" y="257795"/>
                  <a:pt x="2294626" y="421659"/>
                </a:cubicBezTo>
                <a:cubicBezTo>
                  <a:pt x="2314347" y="585523"/>
                  <a:pt x="2282523" y="775196"/>
                  <a:pt x="2294626" y="897147"/>
                </a:cubicBezTo>
                <a:cubicBezTo>
                  <a:pt x="2127717" y="881589"/>
                  <a:pt x="1904334" y="879011"/>
                  <a:pt x="1766862" y="897147"/>
                </a:cubicBezTo>
                <a:cubicBezTo>
                  <a:pt x="1629390" y="915283"/>
                  <a:pt x="1321531" y="918534"/>
                  <a:pt x="1170259" y="897147"/>
                </a:cubicBezTo>
                <a:cubicBezTo>
                  <a:pt x="1018987" y="875760"/>
                  <a:pt x="881091" y="880858"/>
                  <a:pt x="596603" y="897147"/>
                </a:cubicBezTo>
                <a:cubicBezTo>
                  <a:pt x="312115" y="913436"/>
                  <a:pt x="239498" y="892026"/>
                  <a:pt x="0" y="897147"/>
                </a:cubicBezTo>
                <a:cubicBezTo>
                  <a:pt x="5299" y="794192"/>
                  <a:pt x="1984" y="643113"/>
                  <a:pt x="0" y="457545"/>
                </a:cubicBezTo>
                <a:cubicBezTo>
                  <a:pt x="-1984" y="271977"/>
                  <a:pt x="-15953" y="144161"/>
                  <a:pt x="0" y="0"/>
                </a:cubicBezTo>
                <a:close/>
              </a:path>
              <a:path w="2294626" h="897147" stroke="0" extrusionOk="0">
                <a:moveTo>
                  <a:pt x="0" y="0"/>
                </a:moveTo>
                <a:cubicBezTo>
                  <a:pt x="272375" y="16755"/>
                  <a:pt x="355797" y="-17265"/>
                  <a:pt x="573657" y="0"/>
                </a:cubicBezTo>
                <a:cubicBezTo>
                  <a:pt x="791517" y="17265"/>
                  <a:pt x="971067" y="-1050"/>
                  <a:pt x="1193206" y="0"/>
                </a:cubicBezTo>
                <a:cubicBezTo>
                  <a:pt x="1415345" y="1050"/>
                  <a:pt x="1575864" y="12260"/>
                  <a:pt x="1743916" y="0"/>
                </a:cubicBezTo>
                <a:cubicBezTo>
                  <a:pt x="1911968" y="-12260"/>
                  <a:pt x="2160284" y="15111"/>
                  <a:pt x="2294626" y="0"/>
                </a:cubicBezTo>
                <a:cubicBezTo>
                  <a:pt x="2285677" y="195373"/>
                  <a:pt x="2303834" y="258603"/>
                  <a:pt x="2294626" y="439602"/>
                </a:cubicBezTo>
                <a:cubicBezTo>
                  <a:pt x="2285418" y="620601"/>
                  <a:pt x="2297233" y="763171"/>
                  <a:pt x="2294626" y="897147"/>
                </a:cubicBezTo>
                <a:cubicBezTo>
                  <a:pt x="2092215" y="893782"/>
                  <a:pt x="1973814" y="896174"/>
                  <a:pt x="1720970" y="897147"/>
                </a:cubicBezTo>
                <a:cubicBezTo>
                  <a:pt x="1468126" y="898120"/>
                  <a:pt x="1414844" y="916956"/>
                  <a:pt x="1216152" y="897147"/>
                </a:cubicBezTo>
                <a:cubicBezTo>
                  <a:pt x="1017460" y="877338"/>
                  <a:pt x="911560" y="876905"/>
                  <a:pt x="665442" y="897147"/>
                </a:cubicBezTo>
                <a:cubicBezTo>
                  <a:pt x="419324" y="917390"/>
                  <a:pt x="165961" y="901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noFill/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ПАМЯТНЫЙ</a:t>
            </a: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4.000₽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9F0BDC-2F34-DF19-00BF-7324A09912CA}"/>
              </a:ext>
            </a:extLst>
          </p:cNvPr>
          <p:cNvSpPr/>
          <p:nvPr/>
        </p:nvSpPr>
        <p:spPr>
          <a:xfrm>
            <a:off x="9599202" y="5497178"/>
            <a:ext cx="2294626" cy="897147"/>
          </a:xfrm>
          <a:custGeom>
            <a:avLst/>
            <a:gdLst>
              <a:gd name="csX0" fmla="*/ 0 w 2294626"/>
              <a:gd name="csY0" fmla="*/ 0 h 897147"/>
              <a:gd name="csX1" fmla="*/ 573657 w 2294626"/>
              <a:gd name="csY1" fmla="*/ 0 h 897147"/>
              <a:gd name="csX2" fmla="*/ 1101420 w 2294626"/>
              <a:gd name="csY2" fmla="*/ 0 h 897147"/>
              <a:gd name="csX3" fmla="*/ 1675077 w 2294626"/>
              <a:gd name="csY3" fmla="*/ 0 h 897147"/>
              <a:gd name="csX4" fmla="*/ 2294626 w 2294626"/>
              <a:gd name="csY4" fmla="*/ 0 h 897147"/>
              <a:gd name="csX5" fmla="*/ 2294626 w 2294626"/>
              <a:gd name="csY5" fmla="*/ 421659 h 897147"/>
              <a:gd name="csX6" fmla="*/ 2294626 w 2294626"/>
              <a:gd name="csY6" fmla="*/ 897147 h 897147"/>
              <a:gd name="csX7" fmla="*/ 1766862 w 2294626"/>
              <a:gd name="csY7" fmla="*/ 897147 h 897147"/>
              <a:gd name="csX8" fmla="*/ 1170259 w 2294626"/>
              <a:gd name="csY8" fmla="*/ 897147 h 897147"/>
              <a:gd name="csX9" fmla="*/ 596603 w 2294626"/>
              <a:gd name="csY9" fmla="*/ 897147 h 897147"/>
              <a:gd name="csX10" fmla="*/ 0 w 2294626"/>
              <a:gd name="csY10" fmla="*/ 897147 h 897147"/>
              <a:gd name="csX11" fmla="*/ 0 w 2294626"/>
              <a:gd name="csY11" fmla="*/ 457545 h 897147"/>
              <a:gd name="csX12" fmla="*/ 0 w 2294626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4626" h="897147" fill="none" extrusionOk="0">
                <a:moveTo>
                  <a:pt x="0" y="0"/>
                </a:moveTo>
                <a:cubicBezTo>
                  <a:pt x="243108" y="6607"/>
                  <a:pt x="413647" y="10860"/>
                  <a:pt x="573657" y="0"/>
                </a:cubicBezTo>
                <a:cubicBezTo>
                  <a:pt x="733667" y="-10860"/>
                  <a:pt x="861785" y="-19359"/>
                  <a:pt x="1101420" y="0"/>
                </a:cubicBezTo>
                <a:cubicBezTo>
                  <a:pt x="1341055" y="19359"/>
                  <a:pt x="1436856" y="9213"/>
                  <a:pt x="1675077" y="0"/>
                </a:cubicBezTo>
                <a:cubicBezTo>
                  <a:pt x="1913298" y="-9213"/>
                  <a:pt x="2024827" y="-21672"/>
                  <a:pt x="2294626" y="0"/>
                </a:cubicBezTo>
                <a:cubicBezTo>
                  <a:pt x="2302711" y="184449"/>
                  <a:pt x="2274905" y="257795"/>
                  <a:pt x="2294626" y="421659"/>
                </a:cubicBezTo>
                <a:cubicBezTo>
                  <a:pt x="2314347" y="585523"/>
                  <a:pt x="2282523" y="775196"/>
                  <a:pt x="2294626" y="897147"/>
                </a:cubicBezTo>
                <a:cubicBezTo>
                  <a:pt x="2127717" y="881589"/>
                  <a:pt x="1904334" y="879011"/>
                  <a:pt x="1766862" y="897147"/>
                </a:cubicBezTo>
                <a:cubicBezTo>
                  <a:pt x="1629390" y="915283"/>
                  <a:pt x="1321531" y="918534"/>
                  <a:pt x="1170259" y="897147"/>
                </a:cubicBezTo>
                <a:cubicBezTo>
                  <a:pt x="1018987" y="875760"/>
                  <a:pt x="881091" y="880858"/>
                  <a:pt x="596603" y="897147"/>
                </a:cubicBezTo>
                <a:cubicBezTo>
                  <a:pt x="312115" y="913436"/>
                  <a:pt x="239498" y="892026"/>
                  <a:pt x="0" y="897147"/>
                </a:cubicBezTo>
                <a:cubicBezTo>
                  <a:pt x="5299" y="794192"/>
                  <a:pt x="1984" y="643113"/>
                  <a:pt x="0" y="457545"/>
                </a:cubicBezTo>
                <a:cubicBezTo>
                  <a:pt x="-1984" y="271977"/>
                  <a:pt x="-15953" y="144161"/>
                  <a:pt x="0" y="0"/>
                </a:cubicBezTo>
                <a:close/>
              </a:path>
              <a:path w="2294626" h="897147" stroke="0" extrusionOk="0">
                <a:moveTo>
                  <a:pt x="0" y="0"/>
                </a:moveTo>
                <a:cubicBezTo>
                  <a:pt x="272375" y="16755"/>
                  <a:pt x="355797" y="-17265"/>
                  <a:pt x="573657" y="0"/>
                </a:cubicBezTo>
                <a:cubicBezTo>
                  <a:pt x="791517" y="17265"/>
                  <a:pt x="971067" y="-1050"/>
                  <a:pt x="1193206" y="0"/>
                </a:cubicBezTo>
                <a:cubicBezTo>
                  <a:pt x="1415345" y="1050"/>
                  <a:pt x="1575864" y="12260"/>
                  <a:pt x="1743916" y="0"/>
                </a:cubicBezTo>
                <a:cubicBezTo>
                  <a:pt x="1911968" y="-12260"/>
                  <a:pt x="2160284" y="15111"/>
                  <a:pt x="2294626" y="0"/>
                </a:cubicBezTo>
                <a:cubicBezTo>
                  <a:pt x="2285677" y="195373"/>
                  <a:pt x="2303834" y="258603"/>
                  <a:pt x="2294626" y="439602"/>
                </a:cubicBezTo>
                <a:cubicBezTo>
                  <a:pt x="2285418" y="620601"/>
                  <a:pt x="2297233" y="763171"/>
                  <a:pt x="2294626" y="897147"/>
                </a:cubicBezTo>
                <a:cubicBezTo>
                  <a:pt x="2092215" y="893782"/>
                  <a:pt x="1973814" y="896174"/>
                  <a:pt x="1720970" y="897147"/>
                </a:cubicBezTo>
                <a:cubicBezTo>
                  <a:pt x="1468126" y="898120"/>
                  <a:pt x="1414844" y="916956"/>
                  <a:pt x="1216152" y="897147"/>
                </a:cubicBezTo>
                <a:cubicBezTo>
                  <a:pt x="1017460" y="877338"/>
                  <a:pt x="911560" y="876905"/>
                  <a:pt x="665442" y="897147"/>
                </a:cubicBezTo>
                <a:cubicBezTo>
                  <a:pt x="419324" y="917390"/>
                  <a:pt x="165961" y="901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noFill/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КОМБИНИРОВАННЫЙ</a:t>
            </a: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ср. </a:t>
            </a:r>
            <a:r>
              <a:rPr lang="en-US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3.250</a:t>
            </a:r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₽</a:t>
            </a:r>
          </a:p>
        </p:txBody>
      </p:sp>
    </p:spTree>
    <p:extLst>
      <p:ext uri="{BB962C8B-B14F-4D97-AF65-F5344CB8AC3E}">
        <p14:creationId xmlns:p14="http://schemas.microsoft.com/office/powerpoint/2010/main" val="2540574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3F43E-047C-F90A-49B8-2D80BF26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CD87BD77-F4AB-6143-5F11-AAF6B2D67193}"/>
              </a:ext>
            </a:extLst>
          </p:cNvPr>
          <p:cNvCxnSpPr>
            <a:cxnSpLocks/>
          </p:cNvCxnSpPr>
          <p:nvPr/>
        </p:nvCxnSpPr>
        <p:spPr>
          <a:xfrm>
            <a:off x="6166486" y="2160915"/>
            <a:ext cx="3098284" cy="315224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2A456474-172A-C0E8-DE65-6EBD11F54791}"/>
              </a:ext>
            </a:extLst>
          </p:cNvPr>
          <p:cNvCxnSpPr>
            <a:cxnSpLocks/>
          </p:cNvCxnSpPr>
          <p:nvPr/>
        </p:nvCxnSpPr>
        <p:spPr>
          <a:xfrm>
            <a:off x="6166486" y="2602468"/>
            <a:ext cx="3098284" cy="2592790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5F4FE46-D819-471C-43D5-8AD906841595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D7318-661E-4D88-230D-A195FC9B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ОПЕРАЦИОННЫЙ ПЛАН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21CE57A-EC9C-25A9-41BC-3BD9A987FEBC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ОБОРУДОВАНИЕ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831AE07-C105-CEC7-CAD2-1B1E3B717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967982"/>
              </p:ext>
            </p:extLst>
          </p:nvPr>
        </p:nvGraphicFramePr>
        <p:xfrm>
          <a:off x="189973" y="1552574"/>
          <a:ext cx="6106159" cy="239776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56517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1420953">
                  <a:extLst>
                    <a:ext uri="{9D8B030D-6E8A-4147-A177-3AD203B41FA5}">
                      <a16:colId xmlns:a16="http://schemas.microsoft.com/office/drawing/2014/main" val="124400431"/>
                    </a:ext>
                  </a:extLst>
                </a:gridCol>
                <a:gridCol w="1330200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1598489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Широкоформатный принтер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113.322₽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113.322₽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Термотрансферный принтер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63.210₽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126.420₽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5909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Ноутбук</a:t>
                      </a:r>
                      <a:endParaRPr lang="ru-RU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32.799₽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65.598₽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32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Планшет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13.999₽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41.997₽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489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ru-R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347.337₽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8272453"/>
                  </a:ext>
                </a:extLst>
              </a:tr>
            </a:tbl>
          </a:graphicData>
        </a:graphic>
      </p:graphicFrame>
      <p:pic>
        <p:nvPicPr>
          <p:cNvPr id="8" name="Рисунок 7" descr="Изображение выглядит как принтер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A21552-6049-32AD-314A-16DEF550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627527" y="1038226"/>
            <a:ext cx="2952292" cy="2789567"/>
          </a:xfrm>
          <a:prstGeom prst="rect">
            <a:avLst/>
          </a:prstGeom>
        </p:spPr>
      </p:pic>
      <p:pic>
        <p:nvPicPr>
          <p:cNvPr id="10" name="Рисунок 9" descr="Изображение выглядит как кружка, кофейная чашка, кофе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876361-AF9F-B93D-58EF-DCF8DC481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76" b="-1"/>
          <a:stretch>
            <a:fillRect/>
          </a:stretch>
        </p:blipFill>
        <p:spPr>
          <a:xfrm>
            <a:off x="8627527" y="3827793"/>
            <a:ext cx="2844021" cy="2734931"/>
          </a:xfrm>
          <a:prstGeom prst="rect">
            <a:avLst/>
          </a:prstGeom>
        </p:spPr>
      </p:pic>
      <p:pic>
        <p:nvPicPr>
          <p:cNvPr id="6" name="Рисунок 5" descr="Изображение выглядит как Электронное устройство, гаджет, Портативное устройство связи, Устройство связ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ECFE98-BF12-BE98-50BD-9B990CF47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348" b="95652" l="6504" r="93225">
                        <a14:foregroundMark x1="35230" y1="13251" x2="20596" y2="9731"/>
                        <a14:foregroundMark x1="20596" y1="9731" x2="9756" y2="24638"/>
                        <a14:foregroundMark x1="9756" y1="24638" x2="9485" y2="86957"/>
                        <a14:foregroundMark x1="9485" y1="86957" x2="22493" y2="94824"/>
                        <a14:foregroundMark x1="22493" y1="94824" x2="81572" y2="96687"/>
                        <a14:foregroundMark x1="81572" y1="96687" x2="89702" y2="65839"/>
                        <a14:foregroundMark x1="89702" y1="65839" x2="85908" y2="22774"/>
                        <a14:foregroundMark x1="85908" y1="22774" x2="68564" y2="15735"/>
                        <a14:foregroundMark x1="68564" y1="15735" x2="23035" y2="11594"/>
                        <a14:foregroundMark x1="11653" y1="5176" x2="34688" y2="8489"/>
                        <a14:foregroundMark x1="16802" y1="95859" x2="34417" y2="95445"/>
                        <a14:foregroundMark x1="34417" y1="95445" x2="53117" y2="96066"/>
                        <a14:foregroundMark x1="42005" y1="96894" x2="17073" y2="96480"/>
                        <a14:foregroundMark x1="9485" y1="58178" x2="7859" y2="15114"/>
                        <a14:foregroundMark x1="7859" y1="15114" x2="12466" y2="5383"/>
                        <a14:foregroundMark x1="12466" y1="5383" x2="13821" y2="4969"/>
                        <a14:foregroundMark x1="7317" y1="15735" x2="17073" y2="4762"/>
                        <a14:foregroundMark x1="17073" y1="4762" x2="19783" y2="5176"/>
                        <a14:foregroundMark x1="10027" y1="4969" x2="15718" y2="4348"/>
                        <a14:foregroundMark x1="12737" y1="4762" x2="8130" y2="7246"/>
                        <a14:foregroundMark x1="8943" y1="11801" x2="7317" y2="16770"/>
                        <a14:foregroundMark x1="6775" y1="23602" x2="10027" y2="58385"/>
                        <a14:foregroundMark x1="10569" y1="62319" x2="10569" y2="63147"/>
                        <a14:foregroundMark x1="92683" y1="95238" x2="93225" y2="853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923790">
            <a:off x="742381" y="4332151"/>
            <a:ext cx="1633085" cy="2137616"/>
          </a:xfrm>
          <a:prstGeom prst="rect">
            <a:avLst/>
          </a:prstGeom>
        </p:spPr>
      </p:pic>
      <p:pic>
        <p:nvPicPr>
          <p:cNvPr id="9" name="Рисунок 8" descr="Изображение выглядит как электроника, компьютер, блокнот, ноутбу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BE13D9-B416-DB6F-C9B5-5E9647AC87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054" b="90000" l="8514" r="93108">
                        <a14:foregroundMark x1="52568" y1="76216" x2="86081" y2="61486"/>
                        <a14:foregroundMark x1="87162" y1="60946" x2="73378" y2="51081"/>
                        <a14:foregroundMark x1="72838" y1="50000" x2="91081" y2="63919"/>
                        <a14:foregroundMark x1="91486" y1="64054" x2="80541" y2="56486"/>
                        <a14:foregroundMark x1="80541" y1="53784" x2="90135" y2="60811"/>
                        <a14:foregroundMark x1="93378" y1="62703" x2="79730" y2="54459"/>
                        <a14:foregroundMark x1="83919" y1="56351" x2="62568" y2="42432"/>
                        <a14:foregroundMark x1="64595" y1="43108" x2="72568" y2="47973"/>
                        <a14:foregroundMark x1="8514" y1="26351" x2="15946" y2="43919"/>
                        <a14:foregroundMark x1="56486" y1="9054" x2="52027" y2="12297"/>
                        <a14:foregroundMark x1="47568" y1="89730" x2="44324" y2="879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08" y="4049075"/>
            <a:ext cx="2808925" cy="280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6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10D92-5D1A-5D5E-B311-15CC6439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3A462489-7979-C8C0-2129-EDC03598B2D2}"/>
              </a:ext>
            </a:extLst>
          </p:cNvPr>
          <p:cNvCxnSpPr/>
          <p:nvPr/>
        </p:nvCxnSpPr>
        <p:spPr>
          <a:xfrm>
            <a:off x="10527839" y="695416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2F974342-3164-7F92-CA0A-81190293108B}"/>
              </a:ext>
            </a:extLst>
          </p:cNvPr>
          <p:cNvCxnSpPr/>
          <p:nvPr/>
        </p:nvCxnSpPr>
        <p:spPr>
          <a:xfrm>
            <a:off x="8508520" y="-248188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C525595-A290-86D1-D48E-49483D22EEE8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5B104-D871-085F-006A-8104F1B8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ОПЕРАЦИОННЫЙ ПЛАН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D005CFC-E2B1-B65C-9FD3-E7DEB29356AA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ПРОИЗВОДСТВО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7386ED-C3C2-596B-687F-B069EBE61D36}"/>
              </a:ext>
            </a:extLst>
          </p:cNvPr>
          <p:cNvSpPr/>
          <p:nvPr/>
        </p:nvSpPr>
        <p:spPr>
          <a:xfrm>
            <a:off x="638354" y="2049308"/>
            <a:ext cx="2294626" cy="897147"/>
          </a:xfrm>
          <a:custGeom>
            <a:avLst/>
            <a:gdLst>
              <a:gd name="csX0" fmla="*/ 0 w 2294626"/>
              <a:gd name="csY0" fmla="*/ 0 h 897147"/>
              <a:gd name="csX1" fmla="*/ 573657 w 2294626"/>
              <a:gd name="csY1" fmla="*/ 0 h 897147"/>
              <a:gd name="csX2" fmla="*/ 1101420 w 2294626"/>
              <a:gd name="csY2" fmla="*/ 0 h 897147"/>
              <a:gd name="csX3" fmla="*/ 1675077 w 2294626"/>
              <a:gd name="csY3" fmla="*/ 0 h 897147"/>
              <a:gd name="csX4" fmla="*/ 2294626 w 2294626"/>
              <a:gd name="csY4" fmla="*/ 0 h 897147"/>
              <a:gd name="csX5" fmla="*/ 2294626 w 2294626"/>
              <a:gd name="csY5" fmla="*/ 421659 h 897147"/>
              <a:gd name="csX6" fmla="*/ 2294626 w 2294626"/>
              <a:gd name="csY6" fmla="*/ 897147 h 897147"/>
              <a:gd name="csX7" fmla="*/ 1766862 w 2294626"/>
              <a:gd name="csY7" fmla="*/ 897147 h 897147"/>
              <a:gd name="csX8" fmla="*/ 1170259 w 2294626"/>
              <a:gd name="csY8" fmla="*/ 897147 h 897147"/>
              <a:gd name="csX9" fmla="*/ 596603 w 2294626"/>
              <a:gd name="csY9" fmla="*/ 897147 h 897147"/>
              <a:gd name="csX10" fmla="*/ 0 w 2294626"/>
              <a:gd name="csY10" fmla="*/ 897147 h 897147"/>
              <a:gd name="csX11" fmla="*/ 0 w 2294626"/>
              <a:gd name="csY11" fmla="*/ 457545 h 897147"/>
              <a:gd name="csX12" fmla="*/ 0 w 2294626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4626" h="897147" fill="none" extrusionOk="0">
                <a:moveTo>
                  <a:pt x="0" y="0"/>
                </a:moveTo>
                <a:cubicBezTo>
                  <a:pt x="243108" y="6607"/>
                  <a:pt x="413647" y="10860"/>
                  <a:pt x="573657" y="0"/>
                </a:cubicBezTo>
                <a:cubicBezTo>
                  <a:pt x="733667" y="-10860"/>
                  <a:pt x="861785" y="-19359"/>
                  <a:pt x="1101420" y="0"/>
                </a:cubicBezTo>
                <a:cubicBezTo>
                  <a:pt x="1341055" y="19359"/>
                  <a:pt x="1436856" y="9213"/>
                  <a:pt x="1675077" y="0"/>
                </a:cubicBezTo>
                <a:cubicBezTo>
                  <a:pt x="1913298" y="-9213"/>
                  <a:pt x="2024827" y="-21672"/>
                  <a:pt x="2294626" y="0"/>
                </a:cubicBezTo>
                <a:cubicBezTo>
                  <a:pt x="2302711" y="184449"/>
                  <a:pt x="2274905" y="257795"/>
                  <a:pt x="2294626" y="421659"/>
                </a:cubicBezTo>
                <a:cubicBezTo>
                  <a:pt x="2314347" y="585523"/>
                  <a:pt x="2282523" y="775196"/>
                  <a:pt x="2294626" y="897147"/>
                </a:cubicBezTo>
                <a:cubicBezTo>
                  <a:pt x="2127717" y="881589"/>
                  <a:pt x="1904334" y="879011"/>
                  <a:pt x="1766862" y="897147"/>
                </a:cubicBezTo>
                <a:cubicBezTo>
                  <a:pt x="1629390" y="915283"/>
                  <a:pt x="1321531" y="918534"/>
                  <a:pt x="1170259" y="897147"/>
                </a:cubicBezTo>
                <a:cubicBezTo>
                  <a:pt x="1018987" y="875760"/>
                  <a:pt x="881091" y="880858"/>
                  <a:pt x="596603" y="897147"/>
                </a:cubicBezTo>
                <a:cubicBezTo>
                  <a:pt x="312115" y="913436"/>
                  <a:pt x="239498" y="892026"/>
                  <a:pt x="0" y="897147"/>
                </a:cubicBezTo>
                <a:cubicBezTo>
                  <a:pt x="5299" y="794192"/>
                  <a:pt x="1984" y="643113"/>
                  <a:pt x="0" y="457545"/>
                </a:cubicBezTo>
                <a:cubicBezTo>
                  <a:pt x="-1984" y="271977"/>
                  <a:pt x="-15953" y="144161"/>
                  <a:pt x="0" y="0"/>
                </a:cubicBezTo>
                <a:close/>
              </a:path>
              <a:path w="2294626" h="897147" stroke="0" extrusionOk="0">
                <a:moveTo>
                  <a:pt x="0" y="0"/>
                </a:moveTo>
                <a:cubicBezTo>
                  <a:pt x="272375" y="16755"/>
                  <a:pt x="355797" y="-17265"/>
                  <a:pt x="573657" y="0"/>
                </a:cubicBezTo>
                <a:cubicBezTo>
                  <a:pt x="791517" y="17265"/>
                  <a:pt x="971067" y="-1050"/>
                  <a:pt x="1193206" y="0"/>
                </a:cubicBezTo>
                <a:cubicBezTo>
                  <a:pt x="1415345" y="1050"/>
                  <a:pt x="1575864" y="12260"/>
                  <a:pt x="1743916" y="0"/>
                </a:cubicBezTo>
                <a:cubicBezTo>
                  <a:pt x="1911968" y="-12260"/>
                  <a:pt x="2160284" y="15111"/>
                  <a:pt x="2294626" y="0"/>
                </a:cubicBezTo>
                <a:cubicBezTo>
                  <a:pt x="2285677" y="195373"/>
                  <a:pt x="2303834" y="258603"/>
                  <a:pt x="2294626" y="439602"/>
                </a:cubicBezTo>
                <a:cubicBezTo>
                  <a:pt x="2285418" y="620601"/>
                  <a:pt x="2297233" y="763171"/>
                  <a:pt x="2294626" y="897147"/>
                </a:cubicBezTo>
                <a:cubicBezTo>
                  <a:pt x="2092215" y="893782"/>
                  <a:pt x="1973814" y="896174"/>
                  <a:pt x="1720970" y="897147"/>
                </a:cubicBezTo>
                <a:cubicBezTo>
                  <a:pt x="1468126" y="898120"/>
                  <a:pt x="1414844" y="916956"/>
                  <a:pt x="1216152" y="897147"/>
                </a:cubicBezTo>
                <a:cubicBezTo>
                  <a:pt x="1017460" y="877338"/>
                  <a:pt x="911560" y="876905"/>
                  <a:pt x="665442" y="897147"/>
                </a:cubicBezTo>
                <a:cubicBezTo>
                  <a:pt x="419324" y="917390"/>
                  <a:pt x="165961" y="901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solidFill>
            <a:srgbClr val="FFE5FF"/>
          </a:solidFill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ЗАКУПКА</a:t>
            </a:r>
          </a:p>
          <a:p>
            <a:pPr algn="ctr"/>
            <a:r>
              <a:rPr lang="ru-RU" b="1" dirty="0">
                <a:solidFill>
                  <a:srgbClr val="C28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материалов и сырья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1196221-3271-6114-AEBD-50490E8E0775}"/>
              </a:ext>
            </a:extLst>
          </p:cNvPr>
          <p:cNvSpPr/>
          <p:nvPr/>
        </p:nvSpPr>
        <p:spPr>
          <a:xfrm>
            <a:off x="379562" y="3273720"/>
            <a:ext cx="2294626" cy="897147"/>
          </a:xfrm>
          <a:custGeom>
            <a:avLst/>
            <a:gdLst>
              <a:gd name="csX0" fmla="*/ 0 w 2294626"/>
              <a:gd name="csY0" fmla="*/ 0 h 897147"/>
              <a:gd name="csX1" fmla="*/ 573657 w 2294626"/>
              <a:gd name="csY1" fmla="*/ 0 h 897147"/>
              <a:gd name="csX2" fmla="*/ 1101420 w 2294626"/>
              <a:gd name="csY2" fmla="*/ 0 h 897147"/>
              <a:gd name="csX3" fmla="*/ 1675077 w 2294626"/>
              <a:gd name="csY3" fmla="*/ 0 h 897147"/>
              <a:gd name="csX4" fmla="*/ 2294626 w 2294626"/>
              <a:gd name="csY4" fmla="*/ 0 h 897147"/>
              <a:gd name="csX5" fmla="*/ 2294626 w 2294626"/>
              <a:gd name="csY5" fmla="*/ 421659 h 897147"/>
              <a:gd name="csX6" fmla="*/ 2294626 w 2294626"/>
              <a:gd name="csY6" fmla="*/ 897147 h 897147"/>
              <a:gd name="csX7" fmla="*/ 1766862 w 2294626"/>
              <a:gd name="csY7" fmla="*/ 897147 h 897147"/>
              <a:gd name="csX8" fmla="*/ 1170259 w 2294626"/>
              <a:gd name="csY8" fmla="*/ 897147 h 897147"/>
              <a:gd name="csX9" fmla="*/ 596603 w 2294626"/>
              <a:gd name="csY9" fmla="*/ 897147 h 897147"/>
              <a:gd name="csX10" fmla="*/ 0 w 2294626"/>
              <a:gd name="csY10" fmla="*/ 897147 h 897147"/>
              <a:gd name="csX11" fmla="*/ 0 w 2294626"/>
              <a:gd name="csY11" fmla="*/ 457545 h 897147"/>
              <a:gd name="csX12" fmla="*/ 0 w 2294626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4626" h="897147" fill="none" extrusionOk="0">
                <a:moveTo>
                  <a:pt x="0" y="0"/>
                </a:moveTo>
                <a:cubicBezTo>
                  <a:pt x="243108" y="6607"/>
                  <a:pt x="413647" y="10860"/>
                  <a:pt x="573657" y="0"/>
                </a:cubicBezTo>
                <a:cubicBezTo>
                  <a:pt x="733667" y="-10860"/>
                  <a:pt x="861785" y="-19359"/>
                  <a:pt x="1101420" y="0"/>
                </a:cubicBezTo>
                <a:cubicBezTo>
                  <a:pt x="1341055" y="19359"/>
                  <a:pt x="1436856" y="9213"/>
                  <a:pt x="1675077" y="0"/>
                </a:cubicBezTo>
                <a:cubicBezTo>
                  <a:pt x="1913298" y="-9213"/>
                  <a:pt x="2024827" y="-21672"/>
                  <a:pt x="2294626" y="0"/>
                </a:cubicBezTo>
                <a:cubicBezTo>
                  <a:pt x="2302711" y="184449"/>
                  <a:pt x="2274905" y="257795"/>
                  <a:pt x="2294626" y="421659"/>
                </a:cubicBezTo>
                <a:cubicBezTo>
                  <a:pt x="2314347" y="585523"/>
                  <a:pt x="2282523" y="775196"/>
                  <a:pt x="2294626" y="897147"/>
                </a:cubicBezTo>
                <a:cubicBezTo>
                  <a:pt x="2127717" y="881589"/>
                  <a:pt x="1904334" y="879011"/>
                  <a:pt x="1766862" y="897147"/>
                </a:cubicBezTo>
                <a:cubicBezTo>
                  <a:pt x="1629390" y="915283"/>
                  <a:pt x="1321531" y="918534"/>
                  <a:pt x="1170259" y="897147"/>
                </a:cubicBezTo>
                <a:cubicBezTo>
                  <a:pt x="1018987" y="875760"/>
                  <a:pt x="881091" y="880858"/>
                  <a:pt x="596603" y="897147"/>
                </a:cubicBezTo>
                <a:cubicBezTo>
                  <a:pt x="312115" y="913436"/>
                  <a:pt x="239498" y="892026"/>
                  <a:pt x="0" y="897147"/>
                </a:cubicBezTo>
                <a:cubicBezTo>
                  <a:pt x="5299" y="794192"/>
                  <a:pt x="1984" y="643113"/>
                  <a:pt x="0" y="457545"/>
                </a:cubicBezTo>
                <a:cubicBezTo>
                  <a:pt x="-1984" y="271977"/>
                  <a:pt x="-15953" y="144161"/>
                  <a:pt x="0" y="0"/>
                </a:cubicBezTo>
                <a:close/>
              </a:path>
              <a:path w="2294626" h="897147" stroke="0" extrusionOk="0">
                <a:moveTo>
                  <a:pt x="0" y="0"/>
                </a:moveTo>
                <a:cubicBezTo>
                  <a:pt x="272375" y="16755"/>
                  <a:pt x="355797" y="-17265"/>
                  <a:pt x="573657" y="0"/>
                </a:cubicBezTo>
                <a:cubicBezTo>
                  <a:pt x="791517" y="17265"/>
                  <a:pt x="971067" y="-1050"/>
                  <a:pt x="1193206" y="0"/>
                </a:cubicBezTo>
                <a:cubicBezTo>
                  <a:pt x="1415345" y="1050"/>
                  <a:pt x="1575864" y="12260"/>
                  <a:pt x="1743916" y="0"/>
                </a:cubicBezTo>
                <a:cubicBezTo>
                  <a:pt x="1911968" y="-12260"/>
                  <a:pt x="2160284" y="15111"/>
                  <a:pt x="2294626" y="0"/>
                </a:cubicBezTo>
                <a:cubicBezTo>
                  <a:pt x="2285677" y="195373"/>
                  <a:pt x="2303834" y="258603"/>
                  <a:pt x="2294626" y="439602"/>
                </a:cubicBezTo>
                <a:cubicBezTo>
                  <a:pt x="2285418" y="620601"/>
                  <a:pt x="2297233" y="763171"/>
                  <a:pt x="2294626" y="897147"/>
                </a:cubicBezTo>
                <a:cubicBezTo>
                  <a:pt x="2092215" y="893782"/>
                  <a:pt x="1973814" y="896174"/>
                  <a:pt x="1720970" y="897147"/>
                </a:cubicBezTo>
                <a:cubicBezTo>
                  <a:pt x="1468126" y="898120"/>
                  <a:pt x="1414844" y="916956"/>
                  <a:pt x="1216152" y="897147"/>
                </a:cubicBezTo>
                <a:cubicBezTo>
                  <a:pt x="1017460" y="877338"/>
                  <a:pt x="911560" y="876905"/>
                  <a:pt x="665442" y="897147"/>
                </a:cubicBezTo>
                <a:cubicBezTo>
                  <a:pt x="419324" y="917390"/>
                  <a:pt x="165961" y="901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solidFill>
            <a:srgbClr val="FFE5FF"/>
          </a:solidFill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</a:p>
          <a:p>
            <a:pPr algn="ctr"/>
            <a:r>
              <a:rPr lang="ru-RU" b="1" dirty="0">
                <a:solidFill>
                  <a:srgbClr val="C28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дизайна и боксов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9B4765-B216-7090-D853-857F01EB3AD7}"/>
              </a:ext>
            </a:extLst>
          </p:cNvPr>
          <p:cNvSpPr/>
          <p:nvPr/>
        </p:nvSpPr>
        <p:spPr>
          <a:xfrm>
            <a:off x="3818626" y="2549639"/>
            <a:ext cx="2030084" cy="793632"/>
          </a:xfrm>
          <a:custGeom>
            <a:avLst/>
            <a:gdLst>
              <a:gd name="csX0" fmla="*/ 0 w 2030084"/>
              <a:gd name="csY0" fmla="*/ 0 h 793632"/>
              <a:gd name="csX1" fmla="*/ 676695 w 2030084"/>
              <a:gd name="csY1" fmla="*/ 0 h 793632"/>
              <a:gd name="csX2" fmla="*/ 1292487 w 2030084"/>
              <a:gd name="csY2" fmla="*/ 0 h 793632"/>
              <a:gd name="csX3" fmla="*/ 2030084 w 2030084"/>
              <a:gd name="csY3" fmla="*/ 0 h 793632"/>
              <a:gd name="csX4" fmla="*/ 2030084 w 2030084"/>
              <a:gd name="csY4" fmla="*/ 380943 h 793632"/>
              <a:gd name="csX5" fmla="*/ 2030084 w 2030084"/>
              <a:gd name="csY5" fmla="*/ 793632 h 793632"/>
              <a:gd name="csX6" fmla="*/ 1373690 w 2030084"/>
              <a:gd name="csY6" fmla="*/ 793632 h 793632"/>
              <a:gd name="csX7" fmla="*/ 676695 w 2030084"/>
              <a:gd name="csY7" fmla="*/ 793632 h 793632"/>
              <a:gd name="csX8" fmla="*/ 0 w 2030084"/>
              <a:gd name="csY8" fmla="*/ 793632 h 793632"/>
              <a:gd name="csX9" fmla="*/ 0 w 2030084"/>
              <a:gd name="csY9" fmla="*/ 380943 h 793632"/>
              <a:gd name="csX10" fmla="*/ 0 w 2030084"/>
              <a:gd name="csY10" fmla="*/ 0 h 793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030084" h="793632" fill="none" extrusionOk="0">
                <a:moveTo>
                  <a:pt x="0" y="0"/>
                </a:moveTo>
                <a:cubicBezTo>
                  <a:pt x="328216" y="-3969"/>
                  <a:pt x="419229" y="26374"/>
                  <a:pt x="676695" y="0"/>
                </a:cubicBezTo>
                <a:cubicBezTo>
                  <a:pt x="934161" y="-26374"/>
                  <a:pt x="1065480" y="24847"/>
                  <a:pt x="1292487" y="0"/>
                </a:cubicBezTo>
                <a:cubicBezTo>
                  <a:pt x="1519494" y="-24847"/>
                  <a:pt x="1703478" y="-1091"/>
                  <a:pt x="2030084" y="0"/>
                </a:cubicBezTo>
                <a:cubicBezTo>
                  <a:pt x="2033249" y="171424"/>
                  <a:pt x="2031499" y="243728"/>
                  <a:pt x="2030084" y="380943"/>
                </a:cubicBezTo>
                <a:cubicBezTo>
                  <a:pt x="2028669" y="518158"/>
                  <a:pt x="2041837" y="711077"/>
                  <a:pt x="2030084" y="793632"/>
                </a:cubicBezTo>
                <a:cubicBezTo>
                  <a:pt x="1783370" y="786291"/>
                  <a:pt x="1612566" y="782135"/>
                  <a:pt x="1373690" y="793632"/>
                </a:cubicBezTo>
                <a:cubicBezTo>
                  <a:pt x="1134814" y="805129"/>
                  <a:pt x="1000697" y="765397"/>
                  <a:pt x="676695" y="793632"/>
                </a:cubicBezTo>
                <a:cubicBezTo>
                  <a:pt x="352693" y="821867"/>
                  <a:pt x="243413" y="817119"/>
                  <a:pt x="0" y="793632"/>
                </a:cubicBezTo>
                <a:cubicBezTo>
                  <a:pt x="-12996" y="639001"/>
                  <a:pt x="2488" y="548472"/>
                  <a:pt x="0" y="380943"/>
                </a:cubicBezTo>
                <a:cubicBezTo>
                  <a:pt x="-2488" y="213414"/>
                  <a:pt x="16485" y="144618"/>
                  <a:pt x="0" y="0"/>
                </a:cubicBezTo>
                <a:close/>
              </a:path>
              <a:path w="2030084" h="793632" stroke="0" extrusionOk="0">
                <a:moveTo>
                  <a:pt x="0" y="0"/>
                </a:moveTo>
                <a:cubicBezTo>
                  <a:pt x="277746" y="11591"/>
                  <a:pt x="517322" y="-31021"/>
                  <a:pt x="676695" y="0"/>
                </a:cubicBezTo>
                <a:cubicBezTo>
                  <a:pt x="836069" y="31021"/>
                  <a:pt x="1105333" y="-16205"/>
                  <a:pt x="1393991" y="0"/>
                </a:cubicBezTo>
                <a:cubicBezTo>
                  <a:pt x="1682649" y="16205"/>
                  <a:pt x="1748719" y="9177"/>
                  <a:pt x="2030084" y="0"/>
                </a:cubicBezTo>
                <a:cubicBezTo>
                  <a:pt x="2036572" y="130540"/>
                  <a:pt x="2042694" y="236284"/>
                  <a:pt x="2030084" y="380943"/>
                </a:cubicBezTo>
                <a:cubicBezTo>
                  <a:pt x="2017474" y="525602"/>
                  <a:pt x="2031571" y="618213"/>
                  <a:pt x="2030084" y="793632"/>
                </a:cubicBezTo>
                <a:cubicBezTo>
                  <a:pt x="1884074" y="770858"/>
                  <a:pt x="1583044" y="816973"/>
                  <a:pt x="1393991" y="793632"/>
                </a:cubicBezTo>
                <a:cubicBezTo>
                  <a:pt x="1204938" y="770291"/>
                  <a:pt x="959291" y="784242"/>
                  <a:pt x="717296" y="793632"/>
                </a:cubicBezTo>
                <a:cubicBezTo>
                  <a:pt x="475301" y="803022"/>
                  <a:pt x="158254" y="826082"/>
                  <a:pt x="0" y="793632"/>
                </a:cubicBezTo>
                <a:cubicBezTo>
                  <a:pt x="-10845" y="617037"/>
                  <a:pt x="-1793" y="573372"/>
                  <a:pt x="0" y="404752"/>
                </a:cubicBezTo>
                <a:cubicBezTo>
                  <a:pt x="1793" y="236132"/>
                  <a:pt x="13411" y="125274"/>
                  <a:pt x="0" y="0"/>
                </a:cubicBezTo>
                <a:close/>
              </a:path>
            </a:pathLst>
          </a:custGeom>
          <a:solidFill>
            <a:srgbClr val="FFE5FF"/>
          </a:solidFill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СБОРКА</a:t>
            </a:r>
          </a:p>
          <a:p>
            <a:pPr algn="ctr"/>
            <a:r>
              <a:rPr lang="ru-RU" b="1" dirty="0">
                <a:solidFill>
                  <a:srgbClr val="C28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заказов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52ECAD-EE40-E8E5-C2DE-1D883275C127}"/>
              </a:ext>
            </a:extLst>
          </p:cNvPr>
          <p:cNvSpPr/>
          <p:nvPr/>
        </p:nvSpPr>
        <p:spPr>
          <a:xfrm>
            <a:off x="6403673" y="2157135"/>
            <a:ext cx="2030084" cy="681491"/>
          </a:xfrm>
          <a:custGeom>
            <a:avLst/>
            <a:gdLst>
              <a:gd name="csX0" fmla="*/ 0 w 2030084"/>
              <a:gd name="csY0" fmla="*/ 0 h 681491"/>
              <a:gd name="csX1" fmla="*/ 676695 w 2030084"/>
              <a:gd name="csY1" fmla="*/ 0 h 681491"/>
              <a:gd name="csX2" fmla="*/ 1353389 w 2030084"/>
              <a:gd name="csY2" fmla="*/ 0 h 681491"/>
              <a:gd name="csX3" fmla="*/ 2030084 w 2030084"/>
              <a:gd name="csY3" fmla="*/ 0 h 681491"/>
              <a:gd name="csX4" fmla="*/ 2030084 w 2030084"/>
              <a:gd name="csY4" fmla="*/ 681491 h 681491"/>
              <a:gd name="csX5" fmla="*/ 1393991 w 2030084"/>
              <a:gd name="csY5" fmla="*/ 681491 h 681491"/>
              <a:gd name="csX6" fmla="*/ 696996 w 2030084"/>
              <a:gd name="csY6" fmla="*/ 681491 h 681491"/>
              <a:gd name="csX7" fmla="*/ 0 w 2030084"/>
              <a:gd name="csY7" fmla="*/ 681491 h 681491"/>
              <a:gd name="csX8" fmla="*/ 0 w 2030084"/>
              <a:gd name="csY8" fmla="*/ 0 h 681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30084" h="681491" fill="none" extrusionOk="0">
                <a:moveTo>
                  <a:pt x="0" y="0"/>
                </a:moveTo>
                <a:cubicBezTo>
                  <a:pt x="288100" y="-24801"/>
                  <a:pt x="423525" y="29967"/>
                  <a:pt x="676695" y="0"/>
                </a:cubicBezTo>
                <a:cubicBezTo>
                  <a:pt x="929866" y="-29967"/>
                  <a:pt x="1170921" y="-23340"/>
                  <a:pt x="1353389" y="0"/>
                </a:cubicBezTo>
                <a:cubicBezTo>
                  <a:pt x="1535857" y="23340"/>
                  <a:pt x="1772618" y="26374"/>
                  <a:pt x="2030084" y="0"/>
                </a:cubicBezTo>
                <a:cubicBezTo>
                  <a:pt x="2003476" y="328872"/>
                  <a:pt x="2051570" y="528051"/>
                  <a:pt x="2030084" y="681491"/>
                </a:cubicBezTo>
                <a:cubicBezTo>
                  <a:pt x="1877891" y="656568"/>
                  <a:pt x="1634995" y="669673"/>
                  <a:pt x="1393991" y="681491"/>
                </a:cubicBezTo>
                <a:cubicBezTo>
                  <a:pt x="1152987" y="693309"/>
                  <a:pt x="988583" y="683892"/>
                  <a:pt x="696996" y="681491"/>
                </a:cubicBezTo>
                <a:cubicBezTo>
                  <a:pt x="405409" y="679090"/>
                  <a:pt x="309283" y="667906"/>
                  <a:pt x="0" y="681491"/>
                </a:cubicBezTo>
                <a:cubicBezTo>
                  <a:pt x="-18081" y="496386"/>
                  <a:pt x="18393" y="225990"/>
                  <a:pt x="0" y="0"/>
                </a:cubicBezTo>
                <a:close/>
              </a:path>
              <a:path w="2030084" h="681491" stroke="0" extrusionOk="0">
                <a:moveTo>
                  <a:pt x="0" y="0"/>
                </a:moveTo>
                <a:cubicBezTo>
                  <a:pt x="277746" y="11591"/>
                  <a:pt x="517322" y="-31021"/>
                  <a:pt x="676695" y="0"/>
                </a:cubicBezTo>
                <a:cubicBezTo>
                  <a:pt x="836069" y="31021"/>
                  <a:pt x="1105333" y="-16205"/>
                  <a:pt x="1393991" y="0"/>
                </a:cubicBezTo>
                <a:cubicBezTo>
                  <a:pt x="1682649" y="16205"/>
                  <a:pt x="1748719" y="9177"/>
                  <a:pt x="2030084" y="0"/>
                </a:cubicBezTo>
                <a:cubicBezTo>
                  <a:pt x="2025779" y="261243"/>
                  <a:pt x="2038025" y="495958"/>
                  <a:pt x="2030084" y="681491"/>
                </a:cubicBezTo>
                <a:cubicBezTo>
                  <a:pt x="1860242" y="690009"/>
                  <a:pt x="1586963" y="667871"/>
                  <a:pt x="1373690" y="681491"/>
                </a:cubicBezTo>
                <a:cubicBezTo>
                  <a:pt x="1160417" y="695111"/>
                  <a:pt x="926650" y="704832"/>
                  <a:pt x="737597" y="681491"/>
                </a:cubicBezTo>
                <a:cubicBezTo>
                  <a:pt x="548544" y="658150"/>
                  <a:pt x="173668" y="710340"/>
                  <a:pt x="0" y="681491"/>
                </a:cubicBezTo>
                <a:cubicBezTo>
                  <a:pt x="-18104" y="461757"/>
                  <a:pt x="28103" y="155164"/>
                  <a:pt x="0" y="0"/>
                </a:cubicBezTo>
                <a:close/>
              </a:path>
            </a:pathLst>
          </a:custGeom>
          <a:solidFill>
            <a:srgbClr val="FFE5FF"/>
          </a:solidFill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ОТПРАВКА</a:t>
            </a:r>
          </a:p>
          <a:p>
            <a:pPr algn="ctr"/>
            <a:r>
              <a:rPr lang="ru-RU" b="1" dirty="0">
                <a:solidFill>
                  <a:srgbClr val="C28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Заказа клиенту</a:t>
            </a:r>
          </a:p>
        </p:txBody>
      </p: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F746AECA-0C4D-FC64-C348-7B22110E3F61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932980" y="2497882"/>
            <a:ext cx="885646" cy="448573"/>
          </a:xfrm>
          <a:prstGeom prst="bentConnector3">
            <a:avLst/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B76ABF69-63D8-B199-FC72-D828F544EC20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674188" y="2946455"/>
            <a:ext cx="1144438" cy="775839"/>
          </a:xfrm>
          <a:prstGeom prst="bentConnector3">
            <a:avLst/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05A5F5DF-AB37-0C6A-BE9A-9A2E641EFDC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848710" y="2497881"/>
            <a:ext cx="554963" cy="448574"/>
          </a:xfrm>
          <a:prstGeom prst="bentConnector3">
            <a:avLst/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D238DD-93CA-B02C-DBE0-C23D59D8B8E6}"/>
              </a:ext>
            </a:extLst>
          </p:cNvPr>
          <p:cNvSpPr txBox="1"/>
          <p:nvPr/>
        </p:nvSpPr>
        <p:spPr>
          <a:xfrm>
            <a:off x="4201054" y="4326147"/>
            <a:ext cx="25534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МАТЕРИАЛЫ И СЫРЬЕ</a:t>
            </a:r>
            <a:r>
              <a:rPr lang="en-US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Заготовки для боксов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Наполнители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Кружки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тарелки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Шоколад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Свечи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Аксессуары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Сухоцветы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Крафтовая бумага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2F4FF8-4E79-DE54-1CFC-0E95F38D227E}"/>
              </a:ext>
            </a:extLst>
          </p:cNvPr>
          <p:cNvSpPr txBox="1"/>
          <p:nvPr/>
        </p:nvSpPr>
        <p:spPr>
          <a:xfrm>
            <a:off x="6916642" y="4330460"/>
            <a:ext cx="25534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ДИЗАЙНА</a:t>
            </a:r>
            <a:r>
              <a:rPr lang="en-US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Бокса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Упаковки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Открыток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Этикеток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Ретуширование фото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Карточки товара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50E12B-DBD2-B575-3B01-474041FBBBFA}"/>
              </a:ext>
            </a:extLst>
          </p:cNvPr>
          <p:cNvSpPr txBox="1"/>
          <p:nvPr/>
        </p:nvSpPr>
        <p:spPr>
          <a:xfrm>
            <a:off x="9632230" y="4330460"/>
            <a:ext cx="25534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 ЗАКАЗА</a:t>
            </a:r>
            <a:r>
              <a:rPr lang="en-US" sz="1400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Формирование заказа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Сбор компонентов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Комплектация бокса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Отправка на склад</a:t>
            </a:r>
          </a:p>
        </p:txBody>
      </p:sp>
    </p:spTree>
    <p:extLst>
      <p:ext uri="{BB962C8B-B14F-4D97-AF65-F5344CB8AC3E}">
        <p14:creationId xmlns:p14="http://schemas.microsoft.com/office/powerpoint/2010/main" val="385069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D9B0-6B95-38A6-4A0C-120B0710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Овал 62">
            <a:extLst>
              <a:ext uri="{FF2B5EF4-FFF2-40B4-BE49-F238E27FC236}">
                <a16:creationId xmlns:a16="http://schemas.microsoft.com/office/drawing/2014/main" id="{B9AB0606-07BB-31FF-919E-7B7B5348E453}"/>
              </a:ext>
            </a:extLst>
          </p:cNvPr>
          <p:cNvSpPr/>
          <p:nvPr/>
        </p:nvSpPr>
        <p:spPr>
          <a:xfrm>
            <a:off x="1743258" y="1811926"/>
            <a:ext cx="4181383" cy="4181383"/>
          </a:xfrm>
          <a:prstGeom prst="ellipse">
            <a:avLst/>
          </a:prstGeom>
          <a:solidFill>
            <a:srgbClr val="AD69FF">
              <a:alpha val="10000"/>
            </a:srgb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5585AB22-CF9F-2B30-1B80-DFDB72636795}"/>
              </a:ext>
            </a:extLst>
          </p:cNvPr>
          <p:cNvSpPr/>
          <p:nvPr/>
        </p:nvSpPr>
        <p:spPr>
          <a:xfrm>
            <a:off x="6307709" y="1853989"/>
            <a:ext cx="4181383" cy="4181383"/>
          </a:xfrm>
          <a:prstGeom prst="ellipse">
            <a:avLst/>
          </a:prstGeom>
          <a:solidFill>
            <a:srgbClr val="AD69FF">
              <a:alpha val="10000"/>
            </a:srgb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E0E8830-A22A-687F-0FFE-FA8E5EF72E0E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ACB7F-7B70-7A90-FB00-49CB18C9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КАЛЕНДАРНЫЙ ПЛАН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AD37A2-34CD-554A-0BB8-889889BFD846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ЭТАПЫ И СРОКИ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9ED5538-1E8D-1CE2-7996-1A2C7727DD3E}"/>
              </a:ext>
            </a:extLst>
          </p:cNvPr>
          <p:cNvSpPr/>
          <p:nvPr/>
        </p:nvSpPr>
        <p:spPr>
          <a:xfrm>
            <a:off x="2061713" y="2089745"/>
            <a:ext cx="2294626" cy="897147"/>
          </a:xfrm>
          <a:custGeom>
            <a:avLst/>
            <a:gdLst>
              <a:gd name="csX0" fmla="*/ 0 w 2294626"/>
              <a:gd name="csY0" fmla="*/ 0 h 897147"/>
              <a:gd name="csX1" fmla="*/ 573657 w 2294626"/>
              <a:gd name="csY1" fmla="*/ 0 h 897147"/>
              <a:gd name="csX2" fmla="*/ 1101420 w 2294626"/>
              <a:gd name="csY2" fmla="*/ 0 h 897147"/>
              <a:gd name="csX3" fmla="*/ 1675077 w 2294626"/>
              <a:gd name="csY3" fmla="*/ 0 h 897147"/>
              <a:gd name="csX4" fmla="*/ 2294626 w 2294626"/>
              <a:gd name="csY4" fmla="*/ 0 h 897147"/>
              <a:gd name="csX5" fmla="*/ 2294626 w 2294626"/>
              <a:gd name="csY5" fmla="*/ 421659 h 897147"/>
              <a:gd name="csX6" fmla="*/ 2294626 w 2294626"/>
              <a:gd name="csY6" fmla="*/ 897147 h 897147"/>
              <a:gd name="csX7" fmla="*/ 1766862 w 2294626"/>
              <a:gd name="csY7" fmla="*/ 897147 h 897147"/>
              <a:gd name="csX8" fmla="*/ 1170259 w 2294626"/>
              <a:gd name="csY8" fmla="*/ 897147 h 897147"/>
              <a:gd name="csX9" fmla="*/ 596603 w 2294626"/>
              <a:gd name="csY9" fmla="*/ 897147 h 897147"/>
              <a:gd name="csX10" fmla="*/ 0 w 2294626"/>
              <a:gd name="csY10" fmla="*/ 897147 h 897147"/>
              <a:gd name="csX11" fmla="*/ 0 w 2294626"/>
              <a:gd name="csY11" fmla="*/ 457545 h 897147"/>
              <a:gd name="csX12" fmla="*/ 0 w 2294626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4626" h="897147" fill="none" extrusionOk="0">
                <a:moveTo>
                  <a:pt x="0" y="0"/>
                </a:moveTo>
                <a:cubicBezTo>
                  <a:pt x="243108" y="6607"/>
                  <a:pt x="413647" y="10860"/>
                  <a:pt x="573657" y="0"/>
                </a:cubicBezTo>
                <a:cubicBezTo>
                  <a:pt x="733667" y="-10860"/>
                  <a:pt x="861785" y="-19359"/>
                  <a:pt x="1101420" y="0"/>
                </a:cubicBezTo>
                <a:cubicBezTo>
                  <a:pt x="1341055" y="19359"/>
                  <a:pt x="1436856" y="9213"/>
                  <a:pt x="1675077" y="0"/>
                </a:cubicBezTo>
                <a:cubicBezTo>
                  <a:pt x="1913298" y="-9213"/>
                  <a:pt x="2024827" y="-21672"/>
                  <a:pt x="2294626" y="0"/>
                </a:cubicBezTo>
                <a:cubicBezTo>
                  <a:pt x="2302711" y="184449"/>
                  <a:pt x="2274905" y="257795"/>
                  <a:pt x="2294626" y="421659"/>
                </a:cubicBezTo>
                <a:cubicBezTo>
                  <a:pt x="2314347" y="585523"/>
                  <a:pt x="2282523" y="775196"/>
                  <a:pt x="2294626" y="897147"/>
                </a:cubicBezTo>
                <a:cubicBezTo>
                  <a:pt x="2127717" y="881589"/>
                  <a:pt x="1904334" y="879011"/>
                  <a:pt x="1766862" y="897147"/>
                </a:cubicBezTo>
                <a:cubicBezTo>
                  <a:pt x="1629390" y="915283"/>
                  <a:pt x="1321531" y="918534"/>
                  <a:pt x="1170259" y="897147"/>
                </a:cubicBezTo>
                <a:cubicBezTo>
                  <a:pt x="1018987" y="875760"/>
                  <a:pt x="881091" y="880858"/>
                  <a:pt x="596603" y="897147"/>
                </a:cubicBezTo>
                <a:cubicBezTo>
                  <a:pt x="312115" y="913436"/>
                  <a:pt x="239498" y="892026"/>
                  <a:pt x="0" y="897147"/>
                </a:cubicBezTo>
                <a:cubicBezTo>
                  <a:pt x="5299" y="794192"/>
                  <a:pt x="1984" y="643113"/>
                  <a:pt x="0" y="457545"/>
                </a:cubicBezTo>
                <a:cubicBezTo>
                  <a:pt x="-1984" y="271977"/>
                  <a:pt x="-15953" y="144161"/>
                  <a:pt x="0" y="0"/>
                </a:cubicBezTo>
                <a:close/>
              </a:path>
              <a:path w="2294626" h="897147" stroke="0" extrusionOk="0">
                <a:moveTo>
                  <a:pt x="0" y="0"/>
                </a:moveTo>
                <a:cubicBezTo>
                  <a:pt x="272375" y="16755"/>
                  <a:pt x="355797" y="-17265"/>
                  <a:pt x="573657" y="0"/>
                </a:cubicBezTo>
                <a:cubicBezTo>
                  <a:pt x="791517" y="17265"/>
                  <a:pt x="971067" y="-1050"/>
                  <a:pt x="1193206" y="0"/>
                </a:cubicBezTo>
                <a:cubicBezTo>
                  <a:pt x="1415345" y="1050"/>
                  <a:pt x="1575864" y="12260"/>
                  <a:pt x="1743916" y="0"/>
                </a:cubicBezTo>
                <a:cubicBezTo>
                  <a:pt x="1911968" y="-12260"/>
                  <a:pt x="2160284" y="15111"/>
                  <a:pt x="2294626" y="0"/>
                </a:cubicBezTo>
                <a:cubicBezTo>
                  <a:pt x="2285677" y="195373"/>
                  <a:pt x="2303834" y="258603"/>
                  <a:pt x="2294626" y="439602"/>
                </a:cubicBezTo>
                <a:cubicBezTo>
                  <a:pt x="2285418" y="620601"/>
                  <a:pt x="2297233" y="763171"/>
                  <a:pt x="2294626" y="897147"/>
                </a:cubicBezTo>
                <a:cubicBezTo>
                  <a:pt x="2092215" y="893782"/>
                  <a:pt x="1973814" y="896174"/>
                  <a:pt x="1720970" y="897147"/>
                </a:cubicBezTo>
                <a:cubicBezTo>
                  <a:pt x="1468126" y="898120"/>
                  <a:pt x="1414844" y="916956"/>
                  <a:pt x="1216152" y="897147"/>
                </a:cubicBezTo>
                <a:cubicBezTo>
                  <a:pt x="1017460" y="877338"/>
                  <a:pt x="911560" y="876905"/>
                  <a:pt x="665442" y="897147"/>
                </a:cubicBezTo>
                <a:cubicBezTo>
                  <a:pt x="419324" y="917390"/>
                  <a:pt x="165961" y="901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</a:t>
            </a: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открытие ИП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F65C19-71A3-2969-5059-137FC1155457}"/>
              </a:ext>
            </a:extLst>
          </p:cNvPr>
          <p:cNvSpPr/>
          <p:nvPr/>
        </p:nvSpPr>
        <p:spPr>
          <a:xfrm>
            <a:off x="4591827" y="4453899"/>
            <a:ext cx="2571269" cy="897147"/>
          </a:xfrm>
          <a:custGeom>
            <a:avLst/>
            <a:gdLst>
              <a:gd name="csX0" fmla="*/ 0 w 2571269"/>
              <a:gd name="csY0" fmla="*/ 0 h 897147"/>
              <a:gd name="csX1" fmla="*/ 642817 w 2571269"/>
              <a:gd name="csY1" fmla="*/ 0 h 897147"/>
              <a:gd name="csX2" fmla="*/ 1337060 w 2571269"/>
              <a:gd name="csY2" fmla="*/ 0 h 897147"/>
              <a:gd name="csX3" fmla="*/ 1954164 w 2571269"/>
              <a:gd name="csY3" fmla="*/ 0 h 897147"/>
              <a:gd name="csX4" fmla="*/ 2571269 w 2571269"/>
              <a:gd name="csY4" fmla="*/ 0 h 897147"/>
              <a:gd name="csX5" fmla="*/ 2571269 w 2571269"/>
              <a:gd name="csY5" fmla="*/ 439602 h 897147"/>
              <a:gd name="csX6" fmla="*/ 2571269 w 2571269"/>
              <a:gd name="csY6" fmla="*/ 897147 h 897147"/>
              <a:gd name="csX7" fmla="*/ 1928452 w 2571269"/>
              <a:gd name="csY7" fmla="*/ 897147 h 897147"/>
              <a:gd name="csX8" fmla="*/ 1362773 w 2571269"/>
              <a:gd name="csY8" fmla="*/ 897147 h 897147"/>
              <a:gd name="csX9" fmla="*/ 745668 w 2571269"/>
              <a:gd name="csY9" fmla="*/ 897147 h 897147"/>
              <a:gd name="csX10" fmla="*/ 0 w 2571269"/>
              <a:gd name="csY10" fmla="*/ 897147 h 897147"/>
              <a:gd name="csX11" fmla="*/ 0 w 2571269"/>
              <a:gd name="csY11" fmla="*/ 439602 h 897147"/>
              <a:gd name="csX12" fmla="*/ 0 w 2571269"/>
              <a:gd name="csY12" fmla="*/ 0 h 897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71269" h="897147" extrusionOk="0">
                <a:moveTo>
                  <a:pt x="0" y="0"/>
                </a:moveTo>
                <a:cubicBezTo>
                  <a:pt x="299237" y="16286"/>
                  <a:pt x="438988" y="-18742"/>
                  <a:pt x="642817" y="0"/>
                </a:cubicBezTo>
                <a:cubicBezTo>
                  <a:pt x="846646" y="18742"/>
                  <a:pt x="1009126" y="26529"/>
                  <a:pt x="1337060" y="0"/>
                </a:cubicBezTo>
                <a:cubicBezTo>
                  <a:pt x="1664994" y="-26529"/>
                  <a:pt x="1649570" y="7643"/>
                  <a:pt x="1954164" y="0"/>
                </a:cubicBezTo>
                <a:cubicBezTo>
                  <a:pt x="2258758" y="-7643"/>
                  <a:pt x="2350589" y="9811"/>
                  <a:pt x="2571269" y="0"/>
                </a:cubicBezTo>
                <a:cubicBezTo>
                  <a:pt x="2562320" y="195373"/>
                  <a:pt x="2580477" y="258603"/>
                  <a:pt x="2571269" y="439602"/>
                </a:cubicBezTo>
                <a:cubicBezTo>
                  <a:pt x="2562061" y="620601"/>
                  <a:pt x="2573876" y="763171"/>
                  <a:pt x="2571269" y="897147"/>
                </a:cubicBezTo>
                <a:cubicBezTo>
                  <a:pt x="2348275" y="872304"/>
                  <a:pt x="2086121" y="906470"/>
                  <a:pt x="1928452" y="897147"/>
                </a:cubicBezTo>
                <a:cubicBezTo>
                  <a:pt x="1770783" y="887824"/>
                  <a:pt x="1502157" y="906289"/>
                  <a:pt x="1362773" y="897147"/>
                </a:cubicBezTo>
                <a:cubicBezTo>
                  <a:pt x="1223389" y="888005"/>
                  <a:pt x="1033534" y="887394"/>
                  <a:pt x="745668" y="897147"/>
                </a:cubicBezTo>
                <a:cubicBezTo>
                  <a:pt x="457802" y="906900"/>
                  <a:pt x="159533" y="863586"/>
                  <a:pt x="0" y="897147"/>
                </a:cubicBezTo>
                <a:cubicBezTo>
                  <a:pt x="21241" y="749031"/>
                  <a:pt x="-21462" y="575528"/>
                  <a:pt x="0" y="439602"/>
                </a:cubicBezTo>
                <a:cubicBezTo>
                  <a:pt x="21462" y="303677"/>
                  <a:pt x="15989" y="13422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дизайна и боксов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82DFC1-2788-F88B-E46C-0C4107F0FECA}"/>
              </a:ext>
            </a:extLst>
          </p:cNvPr>
          <p:cNvSpPr/>
          <p:nvPr/>
        </p:nvSpPr>
        <p:spPr>
          <a:xfrm>
            <a:off x="4591828" y="3260772"/>
            <a:ext cx="2571269" cy="793632"/>
          </a:xfrm>
          <a:custGeom>
            <a:avLst/>
            <a:gdLst>
              <a:gd name="csX0" fmla="*/ 0 w 2571269"/>
              <a:gd name="csY0" fmla="*/ 0 h 793632"/>
              <a:gd name="csX1" fmla="*/ 642817 w 2571269"/>
              <a:gd name="csY1" fmla="*/ 0 h 793632"/>
              <a:gd name="csX2" fmla="*/ 1234209 w 2571269"/>
              <a:gd name="csY2" fmla="*/ 0 h 793632"/>
              <a:gd name="csX3" fmla="*/ 1877026 w 2571269"/>
              <a:gd name="csY3" fmla="*/ 0 h 793632"/>
              <a:gd name="csX4" fmla="*/ 2571269 w 2571269"/>
              <a:gd name="csY4" fmla="*/ 0 h 793632"/>
              <a:gd name="csX5" fmla="*/ 2571269 w 2571269"/>
              <a:gd name="csY5" fmla="*/ 373007 h 793632"/>
              <a:gd name="csX6" fmla="*/ 2571269 w 2571269"/>
              <a:gd name="csY6" fmla="*/ 793632 h 793632"/>
              <a:gd name="csX7" fmla="*/ 1979877 w 2571269"/>
              <a:gd name="csY7" fmla="*/ 793632 h 793632"/>
              <a:gd name="csX8" fmla="*/ 1311347 w 2571269"/>
              <a:gd name="csY8" fmla="*/ 793632 h 793632"/>
              <a:gd name="csX9" fmla="*/ 668530 w 2571269"/>
              <a:gd name="csY9" fmla="*/ 793632 h 793632"/>
              <a:gd name="csX10" fmla="*/ 0 w 2571269"/>
              <a:gd name="csY10" fmla="*/ 793632 h 793632"/>
              <a:gd name="csX11" fmla="*/ 0 w 2571269"/>
              <a:gd name="csY11" fmla="*/ 404752 h 793632"/>
              <a:gd name="csX12" fmla="*/ 0 w 2571269"/>
              <a:gd name="csY12" fmla="*/ 0 h 793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71269" h="793632" fill="none" extrusionOk="0">
                <a:moveTo>
                  <a:pt x="0" y="0"/>
                </a:moveTo>
                <a:cubicBezTo>
                  <a:pt x="131748" y="-9111"/>
                  <a:pt x="402214" y="29261"/>
                  <a:pt x="642817" y="0"/>
                </a:cubicBezTo>
                <a:cubicBezTo>
                  <a:pt x="883420" y="-29261"/>
                  <a:pt x="1083098" y="-19695"/>
                  <a:pt x="1234209" y="0"/>
                </a:cubicBezTo>
                <a:cubicBezTo>
                  <a:pt x="1385320" y="19695"/>
                  <a:pt x="1698542" y="-16067"/>
                  <a:pt x="1877026" y="0"/>
                </a:cubicBezTo>
                <a:cubicBezTo>
                  <a:pt x="2055510" y="16067"/>
                  <a:pt x="2290030" y="-7779"/>
                  <a:pt x="2571269" y="0"/>
                </a:cubicBezTo>
                <a:cubicBezTo>
                  <a:pt x="2586100" y="136676"/>
                  <a:pt x="2567233" y="215450"/>
                  <a:pt x="2571269" y="373007"/>
                </a:cubicBezTo>
                <a:cubicBezTo>
                  <a:pt x="2575305" y="530564"/>
                  <a:pt x="2557413" y="598329"/>
                  <a:pt x="2571269" y="793632"/>
                </a:cubicBezTo>
                <a:cubicBezTo>
                  <a:pt x="2331177" y="808392"/>
                  <a:pt x="2259466" y="797168"/>
                  <a:pt x="1979877" y="793632"/>
                </a:cubicBezTo>
                <a:cubicBezTo>
                  <a:pt x="1700288" y="790096"/>
                  <a:pt x="1471090" y="782018"/>
                  <a:pt x="1311347" y="793632"/>
                </a:cubicBezTo>
                <a:cubicBezTo>
                  <a:pt x="1151604" y="805247"/>
                  <a:pt x="930567" y="764242"/>
                  <a:pt x="668530" y="793632"/>
                </a:cubicBezTo>
                <a:cubicBezTo>
                  <a:pt x="406493" y="823022"/>
                  <a:pt x="302432" y="775844"/>
                  <a:pt x="0" y="793632"/>
                </a:cubicBezTo>
                <a:cubicBezTo>
                  <a:pt x="-7820" y="633477"/>
                  <a:pt x="-2427" y="504662"/>
                  <a:pt x="0" y="404752"/>
                </a:cubicBezTo>
                <a:cubicBezTo>
                  <a:pt x="2427" y="304842"/>
                  <a:pt x="-11631" y="82359"/>
                  <a:pt x="0" y="0"/>
                </a:cubicBezTo>
                <a:close/>
              </a:path>
              <a:path w="2571269" h="793632" stroke="0" extrusionOk="0">
                <a:moveTo>
                  <a:pt x="0" y="0"/>
                </a:moveTo>
                <a:cubicBezTo>
                  <a:pt x="299237" y="16286"/>
                  <a:pt x="438988" y="-18742"/>
                  <a:pt x="642817" y="0"/>
                </a:cubicBezTo>
                <a:cubicBezTo>
                  <a:pt x="846646" y="18742"/>
                  <a:pt x="1009126" y="26529"/>
                  <a:pt x="1337060" y="0"/>
                </a:cubicBezTo>
                <a:cubicBezTo>
                  <a:pt x="1664994" y="-26529"/>
                  <a:pt x="1649570" y="7643"/>
                  <a:pt x="1954164" y="0"/>
                </a:cubicBezTo>
                <a:cubicBezTo>
                  <a:pt x="2258758" y="-7643"/>
                  <a:pt x="2350589" y="9811"/>
                  <a:pt x="2571269" y="0"/>
                </a:cubicBezTo>
                <a:cubicBezTo>
                  <a:pt x="2574923" y="171912"/>
                  <a:pt x="2553105" y="230691"/>
                  <a:pt x="2571269" y="388880"/>
                </a:cubicBezTo>
                <a:cubicBezTo>
                  <a:pt x="2589433" y="547069"/>
                  <a:pt x="2587425" y="667204"/>
                  <a:pt x="2571269" y="793632"/>
                </a:cubicBezTo>
                <a:cubicBezTo>
                  <a:pt x="2348275" y="768789"/>
                  <a:pt x="2086121" y="802955"/>
                  <a:pt x="1928452" y="793632"/>
                </a:cubicBezTo>
                <a:cubicBezTo>
                  <a:pt x="1770783" y="784309"/>
                  <a:pt x="1502157" y="802774"/>
                  <a:pt x="1362773" y="793632"/>
                </a:cubicBezTo>
                <a:cubicBezTo>
                  <a:pt x="1223389" y="784490"/>
                  <a:pt x="1033534" y="783879"/>
                  <a:pt x="745668" y="793632"/>
                </a:cubicBezTo>
                <a:cubicBezTo>
                  <a:pt x="457802" y="803385"/>
                  <a:pt x="159533" y="760071"/>
                  <a:pt x="0" y="793632"/>
                </a:cubicBezTo>
                <a:cubicBezTo>
                  <a:pt x="-4687" y="648664"/>
                  <a:pt x="16826" y="533070"/>
                  <a:pt x="0" y="388880"/>
                </a:cubicBezTo>
                <a:cubicBezTo>
                  <a:pt x="-16826" y="244690"/>
                  <a:pt x="-17120" y="11856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ПОКУПКА</a:t>
            </a: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оборудования</a:t>
            </a:r>
            <a:r>
              <a:rPr lang="en-US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материалов и сырья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51DDC0-6CC2-AE37-76B4-2D6EF9264C0C}"/>
              </a:ext>
            </a:extLst>
          </p:cNvPr>
          <p:cNvSpPr/>
          <p:nvPr/>
        </p:nvSpPr>
        <p:spPr>
          <a:xfrm>
            <a:off x="7875622" y="3792906"/>
            <a:ext cx="2030084" cy="681491"/>
          </a:xfrm>
          <a:custGeom>
            <a:avLst/>
            <a:gdLst>
              <a:gd name="csX0" fmla="*/ 0 w 2030084"/>
              <a:gd name="csY0" fmla="*/ 0 h 681491"/>
              <a:gd name="csX1" fmla="*/ 676695 w 2030084"/>
              <a:gd name="csY1" fmla="*/ 0 h 681491"/>
              <a:gd name="csX2" fmla="*/ 1353389 w 2030084"/>
              <a:gd name="csY2" fmla="*/ 0 h 681491"/>
              <a:gd name="csX3" fmla="*/ 2030084 w 2030084"/>
              <a:gd name="csY3" fmla="*/ 0 h 681491"/>
              <a:gd name="csX4" fmla="*/ 2030084 w 2030084"/>
              <a:gd name="csY4" fmla="*/ 681491 h 681491"/>
              <a:gd name="csX5" fmla="*/ 1393991 w 2030084"/>
              <a:gd name="csY5" fmla="*/ 681491 h 681491"/>
              <a:gd name="csX6" fmla="*/ 696996 w 2030084"/>
              <a:gd name="csY6" fmla="*/ 681491 h 681491"/>
              <a:gd name="csX7" fmla="*/ 0 w 2030084"/>
              <a:gd name="csY7" fmla="*/ 681491 h 681491"/>
              <a:gd name="csX8" fmla="*/ 0 w 2030084"/>
              <a:gd name="csY8" fmla="*/ 0 h 681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30084" h="681491" fill="none" extrusionOk="0">
                <a:moveTo>
                  <a:pt x="0" y="0"/>
                </a:moveTo>
                <a:cubicBezTo>
                  <a:pt x="288100" y="-24801"/>
                  <a:pt x="423525" y="29967"/>
                  <a:pt x="676695" y="0"/>
                </a:cubicBezTo>
                <a:cubicBezTo>
                  <a:pt x="929866" y="-29967"/>
                  <a:pt x="1170921" y="-23340"/>
                  <a:pt x="1353389" y="0"/>
                </a:cubicBezTo>
                <a:cubicBezTo>
                  <a:pt x="1535857" y="23340"/>
                  <a:pt x="1772618" y="26374"/>
                  <a:pt x="2030084" y="0"/>
                </a:cubicBezTo>
                <a:cubicBezTo>
                  <a:pt x="2003476" y="328872"/>
                  <a:pt x="2051570" y="528051"/>
                  <a:pt x="2030084" y="681491"/>
                </a:cubicBezTo>
                <a:cubicBezTo>
                  <a:pt x="1877891" y="656568"/>
                  <a:pt x="1634995" y="669673"/>
                  <a:pt x="1393991" y="681491"/>
                </a:cubicBezTo>
                <a:cubicBezTo>
                  <a:pt x="1152987" y="693309"/>
                  <a:pt x="988583" y="683892"/>
                  <a:pt x="696996" y="681491"/>
                </a:cubicBezTo>
                <a:cubicBezTo>
                  <a:pt x="405409" y="679090"/>
                  <a:pt x="309283" y="667906"/>
                  <a:pt x="0" y="681491"/>
                </a:cubicBezTo>
                <a:cubicBezTo>
                  <a:pt x="-18081" y="496386"/>
                  <a:pt x="18393" y="225990"/>
                  <a:pt x="0" y="0"/>
                </a:cubicBezTo>
                <a:close/>
              </a:path>
              <a:path w="2030084" h="681491" stroke="0" extrusionOk="0">
                <a:moveTo>
                  <a:pt x="0" y="0"/>
                </a:moveTo>
                <a:cubicBezTo>
                  <a:pt x="277746" y="11591"/>
                  <a:pt x="517322" y="-31021"/>
                  <a:pt x="676695" y="0"/>
                </a:cubicBezTo>
                <a:cubicBezTo>
                  <a:pt x="836069" y="31021"/>
                  <a:pt x="1105333" y="-16205"/>
                  <a:pt x="1393991" y="0"/>
                </a:cubicBezTo>
                <a:cubicBezTo>
                  <a:pt x="1682649" y="16205"/>
                  <a:pt x="1748719" y="9177"/>
                  <a:pt x="2030084" y="0"/>
                </a:cubicBezTo>
                <a:cubicBezTo>
                  <a:pt x="2025779" y="261243"/>
                  <a:pt x="2038025" y="495958"/>
                  <a:pt x="2030084" y="681491"/>
                </a:cubicBezTo>
                <a:cubicBezTo>
                  <a:pt x="1860242" y="690009"/>
                  <a:pt x="1586963" y="667871"/>
                  <a:pt x="1373690" y="681491"/>
                </a:cubicBezTo>
                <a:cubicBezTo>
                  <a:pt x="1160417" y="695111"/>
                  <a:pt x="926650" y="704832"/>
                  <a:pt x="737597" y="681491"/>
                </a:cubicBezTo>
                <a:cubicBezTo>
                  <a:pt x="548544" y="658150"/>
                  <a:pt x="173668" y="710340"/>
                  <a:pt x="0" y="681491"/>
                </a:cubicBezTo>
                <a:cubicBezTo>
                  <a:pt x="-18104" y="461757"/>
                  <a:pt x="28103" y="15516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5378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537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</a:t>
            </a:r>
            <a:endParaRPr lang="ru-RU" b="1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6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предприятия</a:t>
            </a:r>
            <a:endParaRPr lang="ru-RU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FD7A29E1-CE88-9D4B-32FA-0128CBC00FF1}"/>
              </a:ext>
            </a:extLst>
          </p:cNvPr>
          <p:cNvCxnSpPr>
            <a:cxnSpLocks/>
            <a:stCxn id="3" idx="2"/>
            <a:endCxn id="6" idx="1"/>
          </p:cNvCxnSpPr>
          <p:nvPr/>
        </p:nvCxnSpPr>
        <p:spPr>
          <a:xfrm rot="16200000" flipH="1">
            <a:off x="3565079" y="2630839"/>
            <a:ext cx="670696" cy="1382802"/>
          </a:xfrm>
          <a:prstGeom prst="bentConnector2">
            <a:avLst/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0E3B948F-B230-F573-7E7C-3C834AEB00D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7163096" y="4328285"/>
            <a:ext cx="712526" cy="574188"/>
          </a:xfrm>
          <a:prstGeom prst="bentConnector3">
            <a:avLst>
              <a:gd name="adj1" fmla="val 50000"/>
            </a:avLst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E295A9BC-5D6D-ECD1-3E83-A06C583748B3}"/>
              </a:ext>
            </a:extLst>
          </p:cNvPr>
          <p:cNvCxnSpPr>
            <a:cxnSpLocks/>
            <a:stCxn id="3" idx="2"/>
            <a:endCxn id="5" idx="1"/>
          </p:cNvCxnSpPr>
          <p:nvPr/>
        </p:nvCxnSpPr>
        <p:spPr>
          <a:xfrm rot="16200000" flipH="1">
            <a:off x="2942636" y="3253281"/>
            <a:ext cx="1915581" cy="1382801"/>
          </a:xfrm>
          <a:prstGeom prst="bentConnector2">
            <a:avLst/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B5F07407-C068-F861-C53C-797B4EE33BD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63097" y="3657588"/>
            <a:ext cx="712525" cy="301474"/>
          </a:xfrm>
          <a:prstGeom prst="bentConnector3">
            <a:avLst>
              <a:gd name="adj1" fmla="val 50000"/>
            </a:avLst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0B67EF1-3132-6AC3-A681-3CA3696F18E3}"/>
              </a:ext>
            </a:extLst>
          </p:cNvPr>
          <p:cNvSpPr txBox="1"/>
          <p:nvPr/>
        </p:nvSpPr>
        <p:spPr>
          <a:xfrm>
            <a:off x="1961730" y="2952995"/>
            <a:ext cx="1292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СРОК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дней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02E475-F14F-2551-31ED-4FC53A0A3A56}"/>
              </a:ext>
            </a:extLst>
          </p:cNvPr>
          <p:cNvSpPr txBox="1"/>
          <p:nvPr/>
        </p:nvSpPr>
        <p:spPr>
          <a:xfrm>
            <a:off x="4501490" y="5351046"/>
            <a:ext cx="1382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СРОК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дней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CAAB7E-FA76-59D5-DA5B-467E285FB4D8}"/>
              </a:ext>
            </a:extLst>
          </p:cNvPr>
          <p:cNvSpPr txBox="1"/>
          <p:nvPr/>
        </p:nvSpPr>
        <p:spPr>
          <a:xfrm>
            <a:off x="7798277" y="4474397"/>
            <a:ext cx="1382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СРОК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дней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CEACA7-0456-2F65-F6B4-1FB861A7AABC}"/>
              </a:ext>
            </a:extLst>
          </p:cNvPr>
          <p:cNvSpPr txBox="1"/>
          <p:nvPr/>
        </p:nvSpPr>
        <p:spPr>
          <a:xfrm>
            <a:off x="4501490" y="2986890"/>
            <a:ext cx="14872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СРОК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en-US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дней</a:t>
            </a:r>
          </a:p>
        </p:txBody>
      </p: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A4C8C5D2-E9FC-2678-2A1D-FD7C1684A27E}"/>
              </a:ext>
            </a:extLst>
          </p:cNvPr>
          <p:cNvCxnSpPr/>
          <p:nvPr/>
        </p:nvCxnSpPr>
        <p:spPr>
          <a:xfrm>
            <a:off x="-379562" y="4710023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D4698420-39D5-70FD-ED38-6AF8ABB11C3A}"/>
              </a:ext>
            </a:extLst>
          </p:cNvPr>
          <p:cNvCxnSpPr/>
          <p:nvPr/>
        </p:nvCxnSpPr>
        <p:spPr>
          <a:xfrm>
            <a:off x="1256430" y="5796951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8AFB3292-6ED5-42F8-F85C-4074C6A901B6}"/>
              </a:ext>
            </a:extLst>
          </p:cNvPr>
          <p:cNvCxnSpPr/>
          <p:nvPr/>
        </p:nvCxnSpPr>
        <p:spPr>
          <a:xfrm>
            <a:off x="9076540" y="-55176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Соединитель: уступ 60">
            <a:extLst>
              <a:ext uri="{FF2B5EF4-FFF2-40B4-BE49-F238E27FC236}">
                <a16:creationId xmlns:a16="http://schemas.microsoft.com/office/drawing/2014/main" id="{C30E77D9-568A-A303-A33C-BB8C1172D06D}"/>
              </a:ext>
            </a:extLst>
          </p:cNvPr>
          <p:cNvCxnSpPr/>
          <p:nvPr/>
        </p:nvCxnSpPr>
        <p:spPr>
          <a:xfrm>
            <a:off x="10712532" y="1031752"/>
            <a:ext cx="1699404" cy="1086928"/>
          </a:xfrm>
          <a:prstGeom prst="bentConnector3">
            <a:avLst/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24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1C03-3B51-C18E-E482-4BA7785D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C66CD87-19BF-44D5-36C1-ACE07B6F14ED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3C1963A8-8ECE-B863-F956-31C8C6C7CB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0" y="4235570"/>
            <a:ext cx="7771648" cy="1653936"/>
          </a:xfrm>
          <a:prstGeom prst="bentConnector3">
            <a:avLst>
              <a:gd name="adj1" fmla="val 31951"/>
            </a:avLst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A01B3AA6-5E4C-FED9-E488-E6967A41749B}"/>
              </a:ext>
            </a:extLst>
          </p:cNvPr>
          <p:cNvCxnSpPr>
            <a:cxnSpLocks/>
          </p:cNvCxnSpPr>
          <p:nvPr/>
        </p:nvCxnSpPr>
        <p:spPr>
          <a:xfrm rot="10800000" flipV="1">
            <a:off x="9767041" y="406520"/>
            <a:ext cx="2855343" cy="1653936"/>
          </a:xfrm>
          <a:prstGeom prst="bentConnector3">
            <a:avLst>
              <a:gd name="adj1" fmla="val 48187"/>
            </a:avLst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4E829-ADBE-08D4-8618-E80AFC94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ФИНАНСОВЫЙ ПЛАН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27D0905-8304-792A-B355-F2DDB87A8599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ПОСТОЯННЫЕ ЗАТРАТЫ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664245A-0287-C998-EF20-0604E6E98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165261"/>
              </p:ext>
            </p:extLst>
          </p:nvPr>
        </p:nvGraphicFramePr>
        <p:xfrm>
          <a:off x="233104" y="1552574"/>
          <a:ext cx="6236707" cy="224305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480209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1878249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1878249">
                  <a:extLst>
                    <a:ext uri="{9D8B030D-6E8A-4147-A177-3AD203B41FA5}">
                      <a16:colId xmlns:a16="http://schemas.microsoft.com/office/drawing/2014/main" val="3401572690"/>
                    </a:ext>
                  </a:extLst>
                </a:gridCol>
              </a:tblGrid>
              <a:tr h="568521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ОБЪЕКТЫ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 (МЕСЯЦ)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 (ГОД)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45388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Зарплата работникам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295.000₽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3.540.000₽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406883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Страховые взносы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782₽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57.384₽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5909340"/>
                  </a:ext>
                </a:extLst>
              </a:tr>
              <a:tr h="406883">
                <a:tc>
                  <a:txBody>
                    <a:bodyPr/>
                    <a:lstStyle/>
                    <a:p>
                      <a:r>
                        <a:rPr lang="ru-RU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Аренда помещения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25.000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4049578"/>
                  </a:ext>
                </a:extLst>
              </a:tr>
              <a:tr h="40688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ru-RU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324.782₽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897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384₽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8272453"/>
                  </a:ext>
                </a:extLst>
              </a:tr>
            </a:tbl>
          </a:graphicData>
        </a:graphic>
      </p:graphicFrame>
      <p:pic>
        <p:nvPicPr>
          <p:cNvPr id="23" name="Рисунок 22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0CAB90-FB10-C7B3-48F4-8FB13EA62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196" y="3977317"/>
            <a:ext cx="5291804" cy="2880683"/>
          </a:xfrm>
          <a:prstGeom prst="rect">
            <a:avLst/>
          </a:prstGeom>
        </p:spPr>
      </p:pic>
      <p:pic>
        <p:nvPicPr>
          <p:cNvPr id="26" name="Рисунок 2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CC12AF-EC64-9BC5-47C9-14453F47D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81" y="1552574"/>
            <a:ext cx="5101833" cy="2314822"/>
          </a:xfrm>
          <a:prstGeom prst="rect">
            <a:avLst/>
          </a:prstGeom>
        </p:spPr>
      </p:pic>
      <p:cxnSp>
        <p:nvCxnSpPr>
          <p:cNvPr id="27" name="Соединитель: уступ 26">
            <a:extLst>
              <a:ext uri="{FF2B5EF4-FFF2-40B4-BE49-F238E27FC236}">
                <a16:creationId xmlns:a16="http://schemas.microsoft.com/office/drawing/2014/main" id="{2BCB6BC6-8F8B-80DB-BC60-2C3D2C8526F8}"/>
              </a:ext>
            </a:extLst>
          </p:cNvPr>
          <p:cNvCxnSpPr>
            <a:cxnSpLocks/>
          </p:cNvCxnSpPr>
          <p:nvPr/>
        </p:nvCxnSpPr>
        <p:spPr>
          <a:xfrm flipV="1">
            <a:off x="0" y="6329453"/>
            <a:ext cx="6995181" cy="528547"/>
          </a:xfrm>
          <a:prstGeom prst="bentConnector3">
            <a:avLst>
              <a:gd name="adj1" fmla="val 40862"/>
            </a:avLst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23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2718-34AE-B7A9-C12C-7AD1A08A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96AD621D-5FF4-60C4-EF8A-31F46E007564}"/>
              </a:ext>
            </a:extLst>
          </p:cNvPr>
          <p:cNvCxnSpPr>
            <a:cxnSpLocks/>
          </p:cNvCxnSpPr>
          <p:nvPr/>
        </p:nvCxnSpPr>
        <p:spPr>
          <a:xfrm flipV="1">
            <a:off x="-43889" y="5820682"/>
            <a:ext cx="5046453" cy="577970"/>
          </a:xfrm>
          <a:prstGeom prst="bentConnector3">
            <a:avLst>
              <a:gd name="adj1" fmla="val 53248"/>
            </a:avLst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 descr="Изображение выглядит как текст, снимок экрана, Шрифт, Брен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939A48-3540-3575-1ACB-8929D3D0F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926" y="5241270"/>
            <a:ext cx="1229183" cy="1616729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2010E9F-CB89-72F5-490D-56C9CAF3C80E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69B5E-E931-10E5-F3A1-062D83F4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ФИНАНСОВЫЙ ПЛАН</a:t>
            </a:r>
          </a:p>
        </p:txBody>
      </p:sp>
      <p:pic>
        <p:nvPicPr>
          <p:cNvPr id="21" name="Рисунок 20" descr="Изображение выглядит как текст, бутыл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CC061C-5E2A-5981-3837-0058E711A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78" y="4915802"/>
            <a:ext cx="1174086" cy="1942198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CB48DA5-0508-F03E-C7EF-B9EEBE725941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ПЕРЕМЕННЫЕ ЗАТРАТЫ</a:t>
            </a:r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873CCC-E829-ED29-DB65-A6609E26A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625" y="2141822"/>
            <a:ext cx="2049402" cy="3099449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C019DE2-B29C-D108-3911-66D9459A62D8}"/>
              </a:ext>
            </a:extLst>
          </p:cNvPr>
          <p:cNvGraphicFramePr>
            <a:graphicFrameLocks noGrp="1"/>
          </p:cNvGraphicFramePr>
          <p:nvPr/>
        </p:nvGraphicFramePr>
        <p:xfrm>
          <a:off x="189973" y="1552574"/>
          <a:ext cx="6106159" cy="379476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56517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1420953">
                  <a:extLst>
                    <a:ext uri="{9D8B030D-6E8A-4147-A177-3AD203B41FA5}">
                      <a16:colId xmlns:a16="http://schemas.microsoft.com/office/drawing/2014/main" val="124400431"/>
                    </a:ext>
                  </a:extLst>
                </a:gridCol>
                <a:gridCol w="1330200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1598489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КОМПОНЕНТ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Шоколад </a:t>
                      </a:r>
                      <a:r>
                        <a:rPr 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(20шт.)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Сухоцветы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15₽ - 200₽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21.400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5909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Свечи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95₽ - 200₽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29.500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7953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Кружки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148₽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29.600₽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404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Гофроящик</a:t>
                      </a:r>
                      <a:endParaRPr lang="ru-RU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9₽ - 15.50₽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6.125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596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Фотобумага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568₽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5.680₽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7695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Крафтовая бумага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714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- 1490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11.020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489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Чернила для принтеров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1.497₽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8.982₽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24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ru-R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151.307</a:t>
                      </a:r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8272453"/>
                  </a:ext>
                </a:extLst>
              </a:tr>
            </a:tbl>
          </a:graphicData>
        </a:graphic>
      </p:graphicFrame>
      <p:pic>
        <p:nvPicPr>
          <p:cNvPr id="7" name="Рисунок 6" descr="Изображение выглядит как Бумажное изделие, Упаковочные материалы, бумага, коро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680EC2-85F5-D8C4-3A23-2D5C181BD5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80" r="2947"/>
          <a:stretch>
            <a:fillRect/>
          </a:stretch>
        </p:blipFill>
        <p:spPr>
          <a:xfrm>
            <a:off x="10314934" y="914402"/>
            <a:ext cx="1324784" cy="1203676"/>
          </a:xfrm>
          <a:prstGeom prst="rect">
            <a:avLst/>
          </a:prstGeom>
        </p:spPr>
      </p:pic>
      <p:pic>
        <p:nvPicPr>
          <p:cNvPr id="9" name="Рисунок 8" descr="Изображение выглядит как цветочный горшок, растение, домашнее растение, розов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7DBF77-7226-3BBC-2795-E1675D6AF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6356" y="1182741"/>
            <a:ext cx="2746697" cy="187067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1C84E9-67D0-C3C3-61CB-AC09E84BF6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6356" y="3197930"/>
            <a:ext cx="2746696" cy="230229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D34DCA-5B1F-950E-8B6A-8A75FC0F98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5333" y="5500229"/>
            <a:ext cx="6106159" cy="121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90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903A-4FA1-7E84-87BA-667F84EA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FF2C88E7-73AF-6202-00B4-472E0CC3F099}"/>
              </a:ext>
            </a:extLst>
          </p:cNvPr>
          <p:cNvCxnSpPr>
            <a:cxnSpLocks/>
          </p:cNvCxnSpPr>
          <p:nvPr/>
        </p:nvCxnSpPr>
        <p:spPr>
          <a:xfrm flipV="1">
            <a:off x="-374190" y="6300087"/>
            <a:ext cx="12934250" cy="434995"/>
          </a:xfrm>
          <a:prstGeom prst="bentConnector3">
            <a:avLst>
              <a:gd name="adj1" fmla="val 50000"/>
            </a:avLst>
          </a:prstGeom>
          <a:ln w="19050">
            <a:solidFill>
              <a:srgbClr val="C28F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648FAFC-6A68-A6E4-15C2-F89781F68B07}"/>
              </a:ext>
            </a:extLst>
          </p:cNvPr>
          <p:cNvSpPr/>
          <p:nvPr/>
        </p:nvSpPr>
        <p:spPr>
          <a:xfrm>
            <a:off x="0" y="295276"/>
            <a:ext cx="12192000" cy="619126"/>
          </a:xfrm>
          <a:prstGeom prst="rect">
            <a:avLst/>
          </a:prstGeom>
          <a:gradFill>
            <a:gsLst>
              <a:gs pos="0">
                <a:srgbClr val="809CFF">
                  <a:lumMod val="26000"/>
                  <a:lumOff val="74000"/>
                </a:srgbClr>
              </a:gs>
              <a:gs pos="55000">
                <a:srgbClr val="FFBDFF">
                  <a:lumMod val="40000"/>
                  <a:lumOff val="6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Трехмерная модель 45" descr="Гистограмма с линейным ростом">
                <a:extLst>
                  <a:ext uri="{FF2B5EF4-FFF2-40B4-BE49-F238E27FC236}">
                    <a16:creationId xmlns:a16="http://schemas.microsoft.com/office/drawing/2014/main" id="{815B6A20-91C3-C655-D810-9F14797FD0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94202176"/>
                  </p:ext>
                </p:extLst>
              </p:nvPr>
            </p:nvGraphicFramePr>
            <p:xfrm>
              <a:off x="5278751" y="1451271"/>
              <a:ext cx="6959140" cy="416590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959140" cy="4165902"/>
                    </a:xfrm>
                    <a:prstGeom prst="rect">
                      <a:avLst/>
                    </a:prstGeom>
                  </am3d:spPr>
                  <am3d:camera>
                    <am3d:pos x="0" y="0" z="540607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55560" d="1000000"/>
                    <am3d:preTrans dx="0" dy="-15589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39008" ay="494780" az="10761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2919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Трехмерная модель 45" descr="Гистограмма с линейным ростом">
                <a:extLst>
                  <a:ext uri="{FF2B5EF4-FFF2-40B4-BE49-F238E27FC236}">
                    <a16:creationId xmlns:a16="http://schemas.microsoft.com/office/drawing/2014/main" id="{815B6A20-91C3-C655-D810-9F14797FD0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8751" y="1451271"/>
                <a:ext cx="6959140" cy="416590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5181B-E074-FD3B-DC6B-B9A74FB0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76"/>
            <a:ext cx="12192000" cy="74295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ФИНАНСОВЫЙ ПЛАН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D4882A0-92D8-77B5-941F-EEC2068846F2}"/>
              </a:ext>
            </a:extLst>
          </p:cNvPr>
          <p:cNvSpPr txBox="1">
            <a:spLocks/>
          </p:cNvSpPr>
          <p:nvPr/>
        </p:nvSpPr>
        <p:spPr>
          <a:xfrm>
            <a:off x="70486" y="809624"/>
            <a:ext cx="12192000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5378FF"/>
                </a:solidFill>
                <a:latin typeface="Arial Black" panose="020B0A04020102020204" pitchFamily="34" charset="0"/>
              </a:rPr>
              <a:t>ПРОГНОЗ ВЫРУЧКИ 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C73F9AB-4907-21D8-0495-1CC3C5448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261313"/>
              </p:ext>
            </p:extLst>
          </p:nvPr>
        </p:nvGraphicFramePr>
        <p:xfrm>
          <a:off x="379754" y="1552574"/>
          <a:ext cx="6253959" cy="22250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774909">
                  <a:extLst>
                    <a:ext uri="{9D8B030D-6E8A-4147-A177-3AD203B41FA5}">
                      <a16:colId xmlns:a16="http://schemas.microsoft.com/office/drawing/2014/main" val="114633668"/>
                    </a:ext>
                  </a:extLst>
                </a:gridCol>
                <a:gridCol w="1435832">
                  <a:extLst>
                    <a:ext uri="{9D8B030D-6E8A-4147-A177-3AD203B41FA5}">
                      <a16:colId xmlns:a16="http://schemas.microsoft.com/office/drawing/2014/main" val="124400431"/>
                    </a:ext>
                  </a:extLst>
                </a:gridCol>
                <a:gridCol w="1427990">
                  <a:extLst>
                    <a:ext uri="{9D8B030D-6E8A-4147-A177-3AD203B41FA5}">
                      <a16:colId xmlns:a16="http://schemas.microsoft.com/office/drawing/2014/main" val="1976995875"/>
                    </a:ext>
                  </a:extLst>
                </a:gridCol>
                <a:gridCol w="1615228">
                  <a:extLst>
                    <a:ext uri="{9D8B030D-6E8A-4147-A177-3AD203B41FA5}">
                      <a16:colId xmlns:a16="http://schemas.microsoft.com/office/drawing/2014/main" val="52284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КОМПОНЕНТ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49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Стандартный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375.000₽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9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Цветочный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405.000₽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5909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Памятный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180.000₽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7953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Комбинированный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2.000 – 4.500₽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404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ru-R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1.155.000</a:t>
                      </a:r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₽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8272453"/>
                  </a:ext>
                </a:extLst>
              </a:tr>
            </a:tbl>
          </a:graphicData>
        </a:graphic>
      </p:graphicFrame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E97DF71-A8F0-FB14-C066-5B05B9173FFC}"/>
              </a:ext>
            </a:extLst>
          </p:cNvPr>
          <p:cNvSpPr/>
          <p:nvPr/>
        </p:nvSpPr>
        <p:spPr>
          <a:xfrm>
            <a:off x="379754" y="4097728"/>
            <a:ext cx="2061521" cy="698559"/>
          </a:xfrm>
          <a:custGeom>
            <a:avLst/>
            <a:gdLst>
              <a:gd name="csX0" fmla="*/ 0 w 2061521"/>
              <a:gd name="csY0" fmla="*/ 0 h 698559"/>
              <a:gd name="csX1" fmla="*/ 687174 w 2061521"/>
              <a:gd name="csY1" fmla="*/ 0 h 698559"/>
              <a:gd name="csX2" fmla="*/ 1415578 w 2061521"/>
              <a:gd name="csY2" fmla="*/ 0 h 698559"/>
              <a:gd name="csX3" fmla="*/ 2061521 w 2061521"/>
              <a:gd name="csY3" fmla="*/ 0 h 698559"/>
              <a:gd name="csX4" fmla="*/ 2061521 w 2061521"/>
              <a:gd name="csY4" fmla="*/ 698559 h 698559"/>
              <a:gd name="csX5" fmla="*/ 1394963 w 2061521"/>
              <a:gd name="csY5" fmla="*/ 698559 h 698559"/>
              <a:gd name="csX6" fmla="*/ 749019 w 2061521"/>
              <a:gd name="csY6" fmla="*/ 698559 h 698559"/>
              <a:gd name="csX7" fmla="*/ 0 w 2061521"/>
              <a:gd name="csY7" fmla="*/ 698559 h 698559"/>
              <a:gd name="csX8" fmla="*/ 0 w 2061521"/>
              <a:gd name="csY8" fmla="*/ 0 h 698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61521" h="698559" extrusionOk="0">
                <a:moveTo>
                  <a:pt x="0" y="0"/>
                </a:moveTo>
                <a:cubicBezTo>
                  <a:pt x="159393" y="31587"/>
                  <a:pt x="424600" y="-15570"/>
                  <a:pt x="687174" y="0"/>
                </a:cubicBezTo>
                <a:cubicBezTo>
                  <a:pt x="949748" y="15570"/>
                  <a:pt x="1063299" y="24137"/>
                  <a:pt x="1415578" y="0"/>
                </a:cubicBezTo>
                <a:cubicBezTo>
                  <a:pt x="1767857" y="-24137"/>
                  <a:pt x="1910876" y="3073"/>
                  <a:pt x="2061521" y="0"/>
                </a:cubicBezTo>
                <a:cubicBezTo>
                  <a:pt x="2060331" y="292762"/>
                  <a:pt x="2095565" y="362916"/>
                  <a:pt x="2061521" y="698559"/>
                </a:cubicBezTo>
                <a:cubicBezTo>
                  <a:pt x="1921745" y="691877"/>
                  <a:pt x="1582733" y="719789"/>
                  <a:pt x="1394963" y="698559"/>
                </a:cubicBezTo>
                <a:cubicBezTo>
                  <a:pt x="1207193" y="677329"/>
                  <a:pt x="1007773" y="700029"/>
                  <a:pt x="749019" y="698559"/>
                </a:cubicBezTo>
                <a:cubicBezTo>
                  <a:pt x="490265" y="697089"/>
                  <a:pt x="341815" y="735263"/>
                  <a:pt x="0" y="698559"/>
                </a:cubicBezTo>
                <a:cubicBezTo>
                  <a:pt x="-18477" y="416342"/>
                  <a:pt x="1960" y="20819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ДОХОД</a:t>
            </a:r>
          </a:p>
          <a:p>
            <a:pPr algn="ctr"/>
            <a:r>
              <a:rPr lang="ru-RU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1.155.000₽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2C3065B-2D12-2FFD-EDB4-C5D867D60C12}"/>
              </a:ext>
            </a:extLst>
          </p:cNvPr>
          <p:cNvSpPr/>
          <p:nvPr/>
        </p:nvSpPr>
        <p:spPr>
          <a:xfrm>
            <a:off x="2861286" y="4097728"/>
            <a:ext cx="1771099" cy="928633"/>
          </a:xfrm>
          <a:custGeom>
            <a:avLst/>
            <a:gdLst>
              <a:gd name="csX0" fmla="*/ 0 w 1771099"/>
              <a:gd name="csY0" fmla="*/ 0 h 928633"/>
              <a:gd name="csX1" fmla="*/ 590366 w 1771099"/>
              <a:gd name="csY1" fmla="*/ 0 h 928633"/>
              <a:gd name="csX2" fmla="*/ 1216155 w 1771099"/>
              <a:gd name="csY2" fmla="*/ 0 h 928633"/>
              <a:gd name="csX3" fmla="*/ 1771099 w 1771099"/>
              <a:gd name="csY3" fmla="*/ 0 h 928633"/>
              <a:gd name="csX4" fmla="*/ 1771099 w 1771099"/>
              <a:gd name="csY4" fmla="*/ 445744 h 928633"/>
              <a:gd name="csX5" fmla="*/ 1771099 w 1771099"/>
              <a:gd name="csY5" fmla="*/ 928633 h 928633"/>
              <a:gd name="csX6" fmla="*/ 1216155 w 1771099"/>
              <a:gd name="csY6" fmla="*/ 928633 h 928633"/>
              <a:gd name="csX7" fmla="*/ 625788 w 1771099"/>
              <a:gd name="csY7" fmla="*/ 928633 h 928633"/>
              <a:gd name="csX8" fmla="*/ 0 w 1771099"/>
              <a:gd name="csY8" fmla="*/ 928633 h 928633"/>
              <a:gd name="csX9" fmla="*/ 0 w 1771099"/>
              <a:gd name="csY9" fmla="*/ 473603 h 928633"/>
              <a:gd name="csX10" fmla="*/ 0 w 1771099"/>
              <a:gd name="csY10" fmla="*/ 0 h 928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771099" h="928633" extrusionOk="0">
                <a:moveTo>
                  <a:pt x="0" y="0"/>
                </a:moveTo>
                <a:cubicBezTo>
                  <a:pt x="204487" y="2699"/>
                  <a:pt x="441608" y="14152"/>
                  <a:pt x="590366" y="0"/>
                </a:cubicBezTo>
                <a:cubicBezTo>
                  <a:pt x="739124" y="-14152"/>
                  <a:pt x="998922" y="21951"/>
                  <a:pt x="1216155" y="0"/>
                </a:cubicBezTo>
                <a:cubicBezTo>
                  <a:pt x="1433388" y="-21951"/>
                  <a:pt x="1523069" y="-5300"/>
                  <a:pt x="1771099" y="0"/>
                </a:cubicBezTo>
                <a:cubicBezTo>
                  <a:pt x="1750507" y="168330"/>
                  <a:pt x="1790642" y="301940"/>
                  <a:pt x="1771099" y="445744"/>
                </a:cubicBezTo>
                <a:cubicBezTo>
                  <a:pt x="1751556" y="589548"/>
                  <a:pt x="1794648" y="697188"/>
                  <a:pt x="1771099" y="928633"/>
                </a:cubicBezTo>
                <a:cubicBezTo>
                  <a:pt x="1533943" y="933478"/>
                  <a:pt x="1448991" y="942141"/>
                  <a:pt x="1216155" y="928633"/>
                </a:cubicBezTo>
                <a:cubicBezTo>
                  <a:pt x="983319" y="915125"/>
                  <a:pt x="763184" y="938095"/>
                  <a:pt x="625788" y="928633"/>
                </a:cubicBezTo>
                <a:cubicBezTo>
                  <a:pt x="488392" y="919171"/>
                  <a:pt x="293361" y="950407"/>
                  <a:pt x="0" y="928633"/>
                </a:cubicBezTo>
                <a:cubicBezTo>
                  <a:pt x="22694" y="830988"/>
                  <a:pt x="-10067" y="693088"/>
                  <a:pt x="0" y="473603"/>
                </a:cubicBezTo>
                <a:cubicBezTo>
                  <a:pt x="10067" y="254118"/>
                  <a:pt x="-22537" y="13259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РАСХОДЫ</a:t>
            </a:r>
          </a:p>
          <a:p>
            <a:pPr algn="ctr"/>
            <a:r>
              <a:rPr lang="ru-RU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324.782₽</a:t>
            </a:r>
          </a:p>
          <a:p>
            <a:pPr algn="ctr"/>
            <a:r>
              <a:rPr lang="ru-RU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151.307₽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D5DAEB3-F5CC-3E57-9395-FE07973E7C3D}"/>
              </a:ext>
            </a:extLst>
          </p:cNvPr>
          <p:cNvSpPr/>
          <p:nvPr/>
        </p:nvSpPr>
        <p:spPr>
          <a:xfrm>
            <a:off x="2536166" y="5257468"/>
            <a:ext cx="2096219" cy="928633"/>
          </a:xfrm>
          <a:custGeom>
            <a:avLst/>
            <a:gdLst>
              <a:gd name="csX0" fmla="*/ 0 w 2096219"/>
              <a:gd name="csY0" fmla="*/ 0 h 928633"/>
              <a:gd name="csX1" fmla="*/ 698740 w 2096219"/>
              <a:gd name="csY1" fmla="*/ 0 h 928633"/>
              <a:gd name="csX2" fmla="*/ 1439404 w 2096219"/>
              <a:gd name="csY2" fmla="*/ 0 h 928633"/>
              <a:gd name="csX3" fmla="*/ 2096219 w 2096219"/>
              <a:gd name="csY3" fmla="*/ 0 h 928633"/>
              <a:gd name="csX4" fmla="*/ 2096219 w 2096219"/>
              <a:gd name="csY4" fmla="*/ 445744 h 928633"/>
              <a:gd name="csX5" fmla="*/ 2096219 w 2096219"/>
              <a:gd name="csY5" fmla="*/ 928633 h 928633"/>
              <a:gd name="csX6" fmla="*/ 1439404 w 2096219"/>
              <a:gd name="csY6" fmla="*/ 928633 h 928633"/>
              <a:gd name="csX7" fmla="*/ 740664 w 2096219"/>
              <a:gd name="csY7" fmla="*/ 928633 h 928633"/>
              <a:gd name="csX8" fmla="*/ 0 w 2096219"/>
              <a:gd name="csY8" fmla="*/ 928633 h 928633"/>
              <a:gd name="csX9" fmla="*/ 0 w 2096219"/>
              <a:gd name="csY9" fmla="*/ 473603 h 928633"/>
              <a:gd name="csX10" fmla="*/ 0 w 2096219"/>
              <a:gd name="csY10" fmla="*/ 0 h 928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096219" h="928633" extrusionOk="0">
                <a:moveTo>
                  <a:pt x="0" y="0"/>
                </a:moveTo>
                <a:cubicBezTo>
                  <a:pt x="321091" y="30500"/>
                  <a:pt x="376075" y="26704"/>
                  <a:pt x="698740" y="0"/>
                </a:cubicBezTo>
                <a:cubicBezTo>
                  <a:pt x="1021405" y="-26704"/>
                  <a:pt x="1223799" y="-13919"/>
                  <a:pt x="1439404" y="0"/>
                </a:cubicBezTo>
                <a:cubicBezTo>
                  <a:pt x="1655009" y="13919"/>
                  <a:pt x="1940803" y="-27201"/>
                  <a:pt x="2096219" y="0"/>
                </a:cubicBezTo>
                <a:cubicBezTo>
                  <a:pt x="2075627" y="168330"/>
                  <a:pt x="2115762" y="301940"/>
                  <a:pt x="2096219" y="445744"/>
                </a:cubicBezTo>
                <a:cubicBezTo>
                  <a:pt x="2076676" y="589548"/>
                  <a:pt x="2119768" y="697188"/>
                  <a:pt x="2096219" y="928633"/>
                </a:cubicBezTo>
                <a:cubicBezTo>
                  <a:pt x="1773761" y="922541"/>
                  <a:pt x="1640931" y="930928"/>
                  <a:pt x="1439404" y="928633"/>
                </a:cubicBezTo>
                <a:cubicBezTo>
                  <a:pt x="1237878" y="926338"/>
                  <a:pt x="951878" y="943412"/>
                  <a:pt x="740664" y="928633"/>
                </a:cubicBezTo>
                <a:cubicBezTo>
                  <a:pt x="529450" y="913854"/>
                  <a:pt x="244958" y="907997"/>
                  <a:pt x="0" y="928633"/>
                </a:cubicBezTo>
                <a:cubicBezTo>
                  <a:pt x="22694" y="830988"/>
                  <a:pt x="-10067" y="693088"/>
                  <a:pt x="0" y="473603"/>
                </a:cubicBezTo>
                <a:cubicBezTo>
                  <a:pt x="10067" y="254118"/>
                  <a:pt x="-22537" y="13259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ДОП. РАСХОДЫ</a:t>
            </a:r>
          </a:p>
          <a:p>
            <a:pPr algn="ctr"/>
            <a:r>
              <a:rPr lang="ru-RU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100.000 ₽</a:t>
            </a:r>
          </a:p>
        </p:txBody>
      </p: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7E58B5CC-7B83-08D5-89D2-15229ED9A97A}"/>
              </a:ext>
            </a:extLst>
          </p:cNvPr>
          <p:cNvCxnSpPr>
            <a:cxnSpLocks/>
            <a:stCxn id="13" idx="2"/>
            <a:endCxn id="14" idx="1"/>
          </p:cNvCxnSpPr>
          <p:nvPr/>
        </p:nvCxnSpPr>
        <p:spPr>
          <a:xfrm rot="5400000" flipH="1" flipV="1">
            <a:off x="2018779" y="3953780"/>
            <a:ext cx="234242" cy="1450771"/>
          </a:xfrm>
          <a:prstGeom prst="bentConnector4">
            <a:avLst>
              <a:gd name="adj1" fmla="val -97591"/>
              <a:gd name="adj2" fmla="val 85525"/>
            </a:avLst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3A4E6A89-DAC2-00CB-C22B-74B03A095381}"/>
              </a:ext>
            </a:extLst>
          </p:cNvPr>
          <p:cNvCxnSpPr>
            <a:cxnSpLocks/>
            <a:stCxn id="13" idx="2"/>
            <a:endCxn id="18" idx="1"/>
          </p:cNvCxnSpPr>
          <p:nvPr/>
        </p:nvCxnSpPr>
        <p:spPr>
          <a:xfrm rot="16200000" flipH="1">
            <a:off x="1510591" y="4696210"/>
            <a:ext cx="925498" cy="1125651"/>
          </a:xfrm>
          <a:prstGeom prst="bentConnector2">
            <a:avLst/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733CBCD-BF74-BDC2-921B-E6F820C0E989}"/>
              </a:ext>
            </a:extLst>
          </p:cNvPr>
          <p:cNvSpPr/>
          <p:nvPr/>
        </p:nvSpPr>
        <p:spPr>
          <a:xfrm>
            <a:off x="5052395" y="4679165"/>
            <a:ext cx="3582647" cy="928633"/>
          </a:xfrm>
          <a:custGeom>
            <a:avLst/>
            <a:gdLst>
              <a:gd name="csX0" fmla="*/ 0 w 3582647"/>
              <a:gd name="csY0" fmla="*/ 0 h 928633"/>
              <a:gd name="csX1" fmla="*/ 597108 w 3582647"/>
              <a:gd name="csY1" fmla="*/ 0 h 928633"/>
              <a:gd name="csX2" fmla="*/ 1265869 w 3582647"/>
              <a:gd name="csY2" fmla="*/ 0 h 928633"/>
              <a:gd name="csX3" fmla="*/ 1827150 w 3582647"/>
              <a:gd name="csY3" fmla="*/ 0 h 928633"/>
              <a:gd name="csX4" fmla="*/ 2352605 w 3582647"/>
              <a:gd name="csY4" fmla="*/ 0 h 928633"/>
              <a:gd name="csX5" fmla="*/ 2913886 w 3582647"/>
              <a:gd name="csY5" fmla="*/ 0 h 928633"/>
              <a:gd name="csX6" fmla="*/ 3582647 w 3582647"/>
              <a:gd name="csY6" fmla="*/ 0 h 928633"/>
              <a:gd name="csX7" fmla="*/ 3582647 w 3582647"/>
              <a:gd name="csY7" fmla="*/ 436458 h 928633"/>
              <a:gd name="csX8" fmla="*/ 3582647 w 3582647"/>
              <a:gd name="csY8" fmla="*/ 928633 h 928633"/>
              <a:gd name="csX9" fmla="*/ 3021366 w 3582647"/>
              <a:gd name="csY9" fmla="*/ 928633 h 928633"/>
              <a:gd name="csX10" fmla="*/ 2460084 w 3582647"/>
              <a:gd name="csY10" fmla="*/ 928633 h 928633"/>
              <a:gd name="csX11" fmla="*/ 1827150 w 3582647"/>
              <a:gd name="csY11" fmla="*/ 928633 h 928633"/>
              <a:gd name="csX12" fmla="*/ 1337522 w 3582647"/>
              <a:gd name="csY12" fmla="*/ 928633 h 928633"/>
              <a:gd name="csX13" fmla="*/ 740414 w 3582647"/>
              <a:gd name="csY13" fmla="*/ 928633 h 928633"/>
              <a:gd name="csX14" fmla="*/ 0 w 3582647"/>
              <a:gd name="csY14" fmla="*/ 928633 h 928633"/>
              <a:gd name="csX15" fmla="*/ 0 w 3582647"/>
              <a:gd name="csY15" fmla="*/ 482889 h 928633"/>
              <a:gd name="csX16" fmla="*/ 0 w 3582647"/>
              <a:gd name="csY16" fmla="*/ 0 h 928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82647" h="928633" extrusionOk="0">
                <a:moveTo>
                  <a:pt x="0" y="0"/>
                </a:moveTo>
                <a:cubicBezTo>
                  <a:pt x="268856" y="8867"/>
                  <a:pt x="399924" y="-26459"/>
                  <a:pt x="597108" y="0"/>
                </a:cubicBezTo>
                <a:cubicBezTo>
                  <a:pt x="794292" y="26459"/>
                  <a:pt x="1006224" y="-15691"/>
                  <a:pt x="1265869" y="0"/>
                </a:cubicBezTo>
                <a:cubicBezTo>
                  <a:pt x="1525514" y="15691"/>
                  <a:pt x="1582052" y="22753"/>
                  <a:pt x="1827150" y="0"/>
                </a:cubicBezTo>
                <a:cubicBezTo>
                  <a:pt x="2072248" y="-22753"/>
                  <a:pt x="2147440" y="7810"/>
                  <a:pt x="2352605" y="0"/>
                </a:cubicBezTo>
                <a:cubicBezTo>
                  <a:pt x="2557770" y="-7810"/>
                  <a:pt x="2710338" y="-7432"/>
                  <a:pt x="2913886" y="0"/>
                </a:cubicBezTo>
                <a:cubicBezTo>
                  <a:pt x="3117434" y="7432"/>
                  <a:pt x="3366630" y="-5864"/>
                  <a:pt x="3582647" y="0"/>
                </a:cubicBezTo>
                <a:cubicBezTo>
                  <a:pt x="3575898" y="209970"/>
                  <a:pt x="3581233" y="238639"/>
                  <a:pt x="3582647" y="436458"/>
                </a:cubicBezTo>
                <a:cubicBezTo>
                  <a:pt x="3584061" y="634277"/>
                  <a:pt x="3576243" y="807408"/>
                  <a:pt x="3582647" y="928633"/>
                </a:cubicBezTo>
                <a:cubicBezTo>
                  <a:pt x="3351962" y="912008"/>
                  <a:pt x="3223686" y="949672"/>
                  <a:pt x="3021366" y="928633"/>
                </a:cubicBezTo>
                <a:cubicBezTo>
                  <a:pt x="2819046" y="907594"/>
                  <a:pt x="2692351" y="954865"/>
                  <a:pt x="2460084" y="928633"/>
                </a:cubicBezTo>
                <a:cubicBezTo>
                  <a:pt x="2227817" y="902401"/>
                  <a:pt x="1954694" y="945103"/>
                  <a:pt x="1827150" y="928633"/>
                </a:cubicBezTo>
                <a:cubicBezTo>
                  <a:pt x="1699606" y="912163"/>
                  <a:pt x="1459612" y="926128"/>
                  <a:pt x="1337522" y="928633"/>
                </a:cubicBezTo>
                <a:cubicBezTo>
                  <a:pt x="1215432" y="931138"/>
                  <a:pt x="988386" y="905499"/>
                  <a:pt x="740414" y="928633"/>
                </a:cubicBezTo>
                <a:cubicBezTo>
                  <a:pt x="492442" y="951767"/>
                  <a:pt x="277635" y="934536"/>
                  <a:pt x="0" y="928633"/>
                </a:cubicBezTo>
                <a:cubicBezTo>
                  <a:pt x="2040" y="776020"/>
                  <a:pt x="-8090" y="582241"/>
                  <a:pt x="0" y="482889"/>
                </a:cubicBezTo>
                <a:cubicBezTo>
                  <a:pt x="8090" y="383537"/>
                  <a:pt x="-18184" y="18568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1.155.000₽ - (324.782₽ + 151.307₽ + 100.000 ₽)</a:t>
            </a:r>
          </a:p>
        </p:txBody>
      </p: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EF7B0291-648D-BE26-1794-ED79F508622B}"/>
              </a:ext>
            </a:extLst>
          </p:cNvPr>
          <p:cNvCxnSpPr>
            <a:cxnSpLocks/>
            <a:stCxn id="14" idx="3"/>
            <a:endCxn id="27" idx="1"/>
          </p:cNvCxnSpPr>
          <p:nvPr/>
        </p:nvCxnSpPr>
        <p:spPr>
          <a:xfrm>
            <a:off x="4632385" y="4562045"/>
            <a:ext cx="420010" cy="581437"/>
          </a:xfrm>
          <a:prstGeom prst="bentConnector3">
            <a:avLst>
              <a:gd name="adj1" fmla="val 50000"/>
            </a:avLst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: уступ 30">
            <a:extLst>
              <a:ext uri="{FF2B5EF4-FFF2-40B4-BE49-F238E27FC236}">
                <a16:creationId xmlns:a16="http://schemas.microsoft.com/office/drawing/2014/main" id="{3C7C21A3-24E0-C794-E7E9-35CF998CF3B7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 flipV="1">
            <a:off x="4632385" y="5143482"/>
            <a:ext cx="420010" cy="578303"/>
          </a:xfrm>
          <a:prstGeom prst="bentConnector3">
            <a:avLst>
              <a:gd name="adj1" fmla="val 50000"/>
            </a:avLst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D4E1911-6143-3EB7-3997-DC21FFAB6BDD}"/>
              </a:ext>
            </a:extLst>
          </p:cNvPr>
          <p:cNvSpPr/>
          <p:nvPr/>
        </p:nvSpPr>
        <p:spPr>
          <a:xfrm>
            <a:off x="9391099" y="4794200"/>
            <a:ext cx="2061521" cy="698559"/>
          </a:xfrm>
          <a:custGeom>
            <a:avLst/>
            <a:gdLst>
              <a:gd name="csX0" fmla="*/ 0 w 2061521"/>
              <a:gd name="csY0" fmla="*/ 0 h 698559"/>
              <a:gd name="csX1" fmla="*/ 687174 w 2061521"/>
              <a:gd name="csY1" fmla="*/ 0 h 698559"/>
              <a:gd name="csX2" fmla="*/ 1415578 w 2061521"/>
              <a:gd name="csY2" fmla="*/ 0 h 698559"/>
              <a:gd name="csX3" fmla="*/ 2061521 w 2061521"/>
              <a:gd name="csY3" fmla="*/ 0 h 698559"/>
              <a:gd name="csX4" fmla="*/ 2061521 w 2061521"/>
              <a:gd name="csY4" fmla="*/ 698559 h 698559"/>
              <a:gd name="csX5" fmla="*/ 1394963 w 2061521"/>
              <a:gd name="csY5" fmla="*/ 698559 h 698559"/>
              <a:gd name="csX6" fmla="*/ 749019 w 2061521"/>
              <a:gd name="csY6" fmla="*/ 698559 h 698559"/>
              <a:gd name="csX7" fmla="*/ 0 w 2061521"/>
              <a:gd name="csY7" fmla="*/ 698559 h 698559"/>
              <a:gd name="csX8" fmla="*/ 0 w 2061521"/>
              <a:gd name="csY8" fmla="*/ 0 h 698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61521" h="698559" extrusionOk="0">
                <a:moveTo>
                  <a:pt x="0" y="0"/>
                </a:moveTo>
                <a:cubicBezTo>
                  <a:pt x="159393" y="31587"/>
                  <a:pt x="424600" y="-15570"/>
                  <a:pt x="687174" y="0"/>
                </a:cubicBezTo>
                <a:cubicBezTo>
                  <a:pt x="949748" y="15570"/>
                  <a:pt x="1063299" y="24137"/>
                  <a:pt x="1415578" y="0"/>
                </a:cubicBezTo>
                <a:cubicBezTo>
                  <a:pt x="1767857" y="-24137"/>
                  <a:pt x="1910876" y="3073"/>
                  <a:pt x="2061521" y="0"/>
                </a:cubicBezTo>
                <a:cubicBezTo>
                  <a:pt x="2060331" y="292762"/>
                  <a:pt x="2095565" y="362916"/>
                  <a:pt x="2061521" y="698559"/>
                </a:cubicBezTo>
                <a:cubicBezTo>
                  <a:pt x="1921745" y="691877"/>
                  <a:pt x="1582733" y="719789"/>
                  <a:pt x="1394963" y="698559"/>
                </a:cubicBezTo>
                <a:cubicBezTo>
                  <a:pt x="1207193" y="677329"/>
                  <a:pt x="1007773" y="700029"/>
                  <a:pt x="749019" y="698559"/>
                </a:cubicBezTo>
                <a:cubicBezTo>
                  <a:pt x="490265" y="697089"/>
                  <a:pt x="341815" y="735263"/>
                  <a:pt x="0" y="698559"/>
                </a:cubicBezTo>
                <a:cubicBezTo>
                  <a:pt x="-18477" y="416342"/>
                  <a:pt x="1960" y="20819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ПРИБЫЛЬ</a:t>
            </a:r>
          </a:p>
          <a:p>
            <a:pPr algn="ctr"/>
            <a:r>
              <a:rPr lang="ru-RU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578.911₽</a:t>
            </a:r>
          </a:p>
        </p:txBody>
      </p: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E542357D-7C8D-C03C-2505-098EEDF59D00}"/>
              </a:ext>
            </a:extLst>
          </p:cNvPr>
          <p:cNvCxnSpPr>
            <a:cxnSpLocks/>
            <a:stCxn id="27" idx="3"/>
            <a:endCxn id="34" idx="1"/>
          </p:cNvCxnSpPr>
          <p:nvPr/>
        </p:nvCxnSpPr>
        <p:spPr>
          <a:xfrm flipV="1">
            <a:off x="8635042" y="5143480"/>
            <a:ext cx="756057" cy="2"/>
          </a:xfrm>
          <a:prstGeom prst="bentConnector3">
            <a:avLst>
              <a:gd name="adj1" fmla="val 50000"/>
            </a:avLst>
          </a:prstGeom>
          <a:ln w="19050">
            <a:solidFill>
              <a:srgbClr val="5378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CF40A7-34AD-5144-F257-ECD7A0EAC8CD}"/>
              </a:ext>
            </a:extLst>
          </p:cNvPr>
          <p:cNvSpPr txBox="1"/>
          <p:nvPr/>
        </p:nvSpPr>
        <p:spPr>
          <a:xfrm>
            <a:off x="6166486" y="6300087"/>
            <a:ext cx="588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P.S. </a:t>
            </a:r>
            <a:r>
              <a:rPr lang="ru-RU" sz="1400" dirty="0">
                <a:solidFill>
                  <a:schemeClr val="bg2">
                    <a:lumMod val="75000"/>
                  </a:schemeClr>
                </a:solidFill>
              </a:rPr>
              <a:t>Все расчёты являются приблизительными и могут не соответствовать действительности.</a:t>
            </a:r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3F007D05-6980-46B3-1B5D-2DAD6A2EAD53}"/>
              </a:ext>
            </a:extLst>
          </p:cNvPr>
          <p:cNvSpPr txBox="1">
            <a:spLocks/>
          </p:cNvSpPr>
          <p:nvPr/>
        </p:nvSpPr>
        <p:spPr>
          <a:xfrm>
            <a:off x="4135519" y="809624"/>
            <a:ext cx="2096219" cy="61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ДВА МЕСЯЦА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FD34CE8-F9CA-2EAB-83AF-311802A6B821}"/>
              </a:ext>
            </a:extLst>
          </p:cNvPr>
          <p:cNvSpPr/>
          <p:nvPr/>
        </p:nvSpPr>
        <p:spPr>
          <a:xfrm>
            <a:off x="9799897" y="5621139"/>
            <a:ext cx="1652723" cy="403142"/>
          </a:xfrm>
          <a:custGeom>
            <a:avLst/>
            <a:gdLst>
              <a:gd name="csX0" fmla="*/ 0 w 1652723"/>
              <a:gd name="csY0" fmla="*/ 0 h 403142"/>
              <a:gd name="csX1" fmla="*/ 550908 w 1652723"/>
              <a:gd name="csY1" fmla="*/ 0 h 403142"/>
              <a:gd name="csX2" fmla="*/ 1101815 w 1652723"/>
              <a:gd name="csY2" fmla="*/ 0 h 403142"/>
              <a:gd name="csX3" fmla="*/ 1652723 w 1652723"/>
              <a:gd name="csY3" fmla="*/ 0 h 403142"/>
              <a:gd name="csX4" fmla="*/ 1652723 w 1652723"/>
              <a:gd name="csY4" fmla="*/ 403142 h 403142"/>
              <a:gd name="csX5" fmla="*/ 1134870 w 1652723"/>
              <a:gd name="csY5" fmla="*/ 403142 h 403142"/>
              <a:gd name="csX6" fmla="*/ 567435 w 1652723"/>
              <a:gd name="csY6" fmla="*/ 403142 h 403142"/>
              <a:gd name="csX7" fmla="*/ 0 w 1652723"/>
              <a:gd name="csY7" fmla="*/ 403142 h 403142"/>
              <a:gd name="csX8" fmla="*/ 0 w 1652723"/>
              <a:gd name="csY8" fmla="*/ 0 h 40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52723" h="403142" fill="none" extrusionOk="0">
                <a:moveTo>
                  <a:pt x="0" y="0"/>
                </a:moveTo>
                <a:cubicBezTo>
                  <a:pt x="131686" y="-5216"/>
                  <a:pt x="302648" y="10725"/>
                  <a:pt x="550908" y="0"/>
                </a:cubicBezTo>
                <a:cubicBezTo>
                  <a:pt x="799168" y="-10725"/>
                  <a:pt x="826824" y="15920"/>
                  <a:pt x="1101815" y="0"/>
                </a:cubicBezTo>
                <a:cubicBezTo>
                  <a:pt x="1376806" y="-15920"/>
                  <a:pt x="1455172" y="-6360"/>
                  <a:pt x="1652723" y="0"/>
                </a:cubicBezTo>
                <a:cubicBezTo>
                  <a:pt x="1641183" y="153006"/>
                  <a:pt x="1665690" y="276872"/>
                  <a:pt x="1652723" y="403142"/>
                </a:cubicBezTo>
                <a:cubicBezTo>
                  <a:pt x="1527968" y="387687"/>
                  <a:pt x="1287915" y="427500"/>
                  <a:pt x="1134870" y="403142"/>
                </a:cubicBezTo>
                <a:cubicBezTo>
                  <a:pt x="981825" y="378784"/>
                  <a:pt x="730630" y="392032"/>
                  <a:pt x="567435" y="403142"/>
                </a:cubicBezTo>
                <a:cubicBezTo>
                  <a:pt x="404240" y="414252"/>
                  <a:pt x="238026" y="382008"/>
                  <a:pt x="0" y="403142"/>
                </a:cubicBezTo>
                <a:cubicBezTo>
                  <a:pt x="-14195" y="204015"/>
                  <a:pt x="-11005" y="103309"/>
                  <a:pt x="0" y="0"/>
                </a:cubicBezTo>
                <a:close/>
              </a:path>
              <a:path w="1652723" h="403142" stroke="0" extrusionOk="0">
                <a:moveTo>
                  <a:pt x="0" y="0"/>
                </a:moveTo>
                <a:cubicBezTo>
                  <a:pt x="154130" y="22667"/>
                  <a:pt x="407591" y="17832"/>
                  <a:pt x="550908" y="0"/>
                </a:cubicBezTo>
                <a:cubicBezTo>
                  <a:pt x="694225" y="-17832"/>
                  <a:pt x="904293" y="22448"/>
                  <a:pt x="1134870" y="0"/>
                </a:cubicBezTo>
                <a:cubicBezTo>
                  <a:pt x="1365447" y="-22448"/>
                  <a:pt x="1534815" y="-714"/>
                  <a:pt x="1652723" y="0"/>
                </a:cubicBezTo>
                <a:cubicBezTo>
                  <a:pt x="1656413" y="92694"/>
                  <a:pt x="1657503" y="216930"/>
                  <a:pt x="1652723" y="403142"/>
                </a:cubicBezTo>
                <a:cubicBezTo>
                  <a:pt x="1487011" y="402599"/>
                  <a:pt x="1366784" y="378959"/>
                  <a:pt x="1118343" y="403142"/>
                </a:cubicBezTo>
                <a:cubicBezTo>
                  <a:pt x="869902" y="427325"/>
                  <a:pt x="755176" y="406512"/>
                  <a:pt x="600489" y="403142"/>
                </a:cubicBezTo>
                <a:cubicBezTo>
                  <a:pt x="445802" y="399772"/>
                  <a:pt x="161281" y="407059"/>
                  <a:pt x="0" y="403142"/>
                </a:cubicBezTo>
                <a:cubicBezTo>
                  <a:pt x="-12202" y="294711"/>
                  <a:pt x="2617" y="19481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D5B3FF"/>
            </a:solidFill>
            <a:extLst>
              <a:ext uri="{C807C97D-BFC1-408E-A445-0C87EB9F89A2}">
                <ask:lineSketchStyleProps xmlns:ask="http://schemas.microsoft.com/office/drawing/2018/sketchyshapes" sd="42626736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AD6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МЕСЯЦ</a:t>
            </a:r>
          </a:p>
          <a:p>
            <a:pPr algn="ctr"/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289.455</a:t>
            </a:r>
            <a:r>
              <a:rPr lang="ru-RU" sz="1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₽</a:t>
            </a:r>
          </a:p>
        </p:txBody>
      </p:sp>
    </p:spTree>
    <p:extLst>
      <p:ext uri="{BB962C8B-B14F-4D97-AF65-F5344CB8AC3E}">
        <p14:creationId xmlns:p14="http://schemas.microsoft.com/office/powerpoint/2010/main" val="3224748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877</Words>
  <Application>Microsoft Office PowerPoint</Application>
  <PresentationFormat>Широкоэкранный</PresentationFormat>
  <Paragraphs>301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Тема Office</vt:lpstr>
      <vt:lpstr>БИЗНЕС–ПЛАН</vt:lpstr>
      <vt:lpstr>ОПИСАНИЕ ПРОЕКТА</vt:lpstr>
      <vt:lpstr>ОПИСАНИЕ ПРОЕКТА</vt:lpstr>
      <vt:lpstr>ОПИСАНИЕ ПРОЕКТА</vt:lpstr>
      <vt:lpstr>ОПИСАНИЕ ПРОЕКТА</vt:lpstr>
      <vt:lpstr>АНАЛИЗ РЫНКА</vt:lpstr>
      <vt:lpstr>АНАЛИЗ РЫНКА</vt:lpstr>
      <vt:lpstr>ОПИСАНИЕ ТОВАРА</vt:lpstr>
      <vt:lpstr>ОПИСАНИЕ ТОВАРА</vt:lpstr>
      <vt:lpstr>ОПИСАНИЕ ТОВАРА</vt:lpstr>
      <vt:lpstr>ОПИСАНИЕ ТОВАРА</vt:lpstr>
      <vt:lpstr>РЕАЛИЗАЦИЯ</vt:lpstr>
      <vt:lpstr>ОПЕРАЦИОННЫЙ ПЛАН</vt:lpstr>
      <vt:lpstr>ОПЕРАЦИОННЫЙ ПЛАН</vt:lpstr>
      <vt:lpstr>КАЛЕНДАРНЫЙ ПЛАН</vt:lpstr>
      <vt:lpstr>ФИНАНСОВЫЙ ПЛАН</vt:lpstr>
      <vt:lpstr>ФИНАНСОВЫЙ ПЛАН</vt:lpstr>
      <vt:lpstr>ФИНАНСОВЫЙ ПЛАН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Чик Чирик</cp:lastModifiedBy>
  <cp:revision>491</cp:revision>
  <dcterms:created xsi:type="dcterms:W3CDTF">2026-02-13T09:27:56Z</dcterms:created>
  <dcterms:modified xsi:type="dcterms:W3CDTF">2026-02-20T02:47:04Z</dcterms:modified>
</cp:coreProperties>
</file>